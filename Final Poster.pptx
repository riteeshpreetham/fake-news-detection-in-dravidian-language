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3"/>
  </p:notesMasterIdLst>
  <p:sldIdLst>
    <p:sldId id="256" r:id="rId2"/>
  </p:sldIdLst>
  <p:sldSz cx="9601200" cy="12801600" type="A3"/>
  <p:notesSz cx="6858000" cy="9144000"/>
  <p:embeddedFontLst>
    <p:embeddedFont>
      <p:font typeface="Inter" panose="020B0604020202020204" charset="0"/>
      <p:regular r:id="rId4"/>
      <p:bold r:id="rId5"/>
      <p:italic r:id="rId6"/>
      <p:boldItalic r:id="rId7"/>
    </p:embeddedFont>
    <p:embeddedFont>
      <p:font typeface="Plus Jakarta Sans"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8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48" y="-6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 name="Google Shape;27;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0"/>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032">
          <p15:clr>
            <a:srgbClr val="FBAE40"/>
          </p15:clr>
        </p15:guide>
        <p15:guide id="2" pos="302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1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1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15"/>
        <p:cNvGrpSpPr/>
        <p:nvPr/>
      </p:nvGrpSpPr>
      <p:grpSpPr>
        <a:xfrm>
          <a:off x="0" y="0"/>
          <a:ext cx="0" cy="0"/>
          <a:chOff x="0" y="0"/>
          <a:chExt cx="0" cy="0"/>
        </a:xfrm>
      </p:grpSpPr>
      <p:sp>
        <p:nvSpPr>
          <p:cNvPr id="16" name="Google Shape;16;p7"/>
          <p:cNvSpPr>
            <a:spLocks noGrp="1"/>
          </p:cNvSpPr>
          <p:nvPr>
            <p:ph type="pic" idx="2"/>
          </p:nvPr>
        </p:nvSpPr>
        <p:spPr>
          <a:xfrm>
            <a:off x="-1" y="1"/>
            <a:ext cx="7635954" cy="9088544"/>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17"/>
        <p:cNvGrpSpPr/>
        <p:nvPr/>
      </p:nvGrpSpPr>
      <p:grpSpPr>
        <a:xfrm>
          <a:off x="0" y="0"/>
          <a:ext cx="0" cy="0"/>
          <a:chOff x="0" y="0"/>
          <a:chExt cx="0" cy="0"/>
        </a:xfrm>
      </p:grpSpPr>
      <p:sp>
        <p:nvSpPr>
          <p:cNvPr id="18" name="Google Shape;18;p8"/>
          <p:cNvSpPr/>
          <p:nvPr/>
        </p:nvSpPr>
        <p:spPr>
          <a:xfrm>
            <a:off x="4800600" y="7005851"/>
            <a:ext cx="4800600" cy="4770437"/>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71975" tIns="35975" rIns="71975" bIns="35975" anchor="ctr" anchorCtr="0">
            <a:noAutofit/>
          </a:bodyPr>
          <a:lstStyle/>
          <a:p>
            <a:pPr marL="0" marR="0" lvl="0" indent="0" algn="ctr" rtl="0">
              <a:lnSpc>
                <a:spcPct val="100000"/>
              </a:lnSpc>
              <a:spcBef>
                <a:spcPts val="0"/>
              </a:spcBef>
              <a:spcAft>
                <a:spcPts val="0"/>
              </a:spcAft>
              <a:buClr>
                <a:srgbClr val="000000"/>
              </a:buClr>
              <a:buSzPts val="1418"/>
              <a:buFont typeface="Arial"/>
              <a:buNone/>
            </a:pPr>
            <a:endParaRPr sz="1418" b="0" i="0" u="none" strike="noStrike" cap="none">
              <a:solidFill>
                <a:schemeClr val="lt1"/>
              </a:solidFill>
              <a:latin typeface="Plus Jakarta Sans"/>
              <a:ea typeface="Plus Jakarta Sans"/>
              <a:cs typeface="Plus Jakarta Sans"/>
              <a:sym typeface="Plus Jakarta Sans"/>
            </a:endParaRPr>
          </a:p>
        </p:txBody>
      </p:sp>
      <p:sp>
        <p:nvSpPr>
          <p:cNvPr id="19" name="Google Shape;19;p8"/>
          <p:cNvSpPr>
            <a:spLocks noGrp="1"/>
          </p:cNvSpPr>
          <p:nvPr>
            <p:ph type="pic" idx="2"/>
          </p:nvPr>
        </p:nvSpPr>
        <p:spPr>
          <a:xfrm>
            <a:off x="5368171" y="2367705"/>
            <a:ext cx="1875056" cy="5556945"/>
          </a:xfrm>
          <a:prstGeom prst="rect">
            <a:avLst/>
          </a:prstGeom>
          <a:solidFill>
            <a:srgbClr val="F2F2F2"/>
          </a:solidFill>
          <a:ln>
            <a:noFill/>
          </a:ln>
        </p:spPr>
      </p:sp>
      <p:sp>
        <p:nvSpPr>
          <p:cNvPr id="20" name="Google Shape;20;p8"/>
          <p:cNvSpPr>
            <a:spLocks noGrp="1"/>
          </p:cNvSpPr>
          <p:nvPr>
            <p:ph type="pic" idx="3"/>
          </p:nvPr>
        </p:nvSpPr>
        <p:spPr>
          <a:xfrm>
            <a:off x="7462362" y="2367705"/>
            <a:ext cx="1875056" cy="555694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1"/>
        <p:cNvGrpSpPr/>
        <p:nvPr/>
      </p:nvGrpSpPr>
      <p:grpSpPr>
        <a:xfrm>
          <a:off x="0" y="0"/>
          <a:ext cx="0" cy="0"/>
          <a:chOff x="0" y="0"/>
          <a:chExt cx="0" cy="0"/>
        </a:xfrm>
      </p:grpSpPr>
      <p:sp>
        <p:nvSpPr>
          <p:cNvPr id="22" name="Google Shape;22;p9"/>
          <p:cNvSpPr>
            <a:spLocks noGrp="1"/>
          </p:cNvSpPr>
          <p:nvPr>
            <p:ph type="pic" idx="2"/>
          </p:nvPr>
        </p:nvSpPr>
        <p:spPr>
          <a:xfrm>
            <a:off x="-1" y="1025312"/>
            <a:ext cx="3933627" cy="10750973"/>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23"/>
        <p:cNvGrpSpPr/>
        <p:nvPr/>
      </p:nvGrpSpPr>
      <p:grpSpPr>
        <a:xfrm>
          <a:off x="0" y="0"/>
          <a:ext cx="0" cy="0"/>
          <a:chOff x="0" y="0"/>
          <a:chExt cx="0" cy="0"/>
        </a:xfrm>
      </p:grpSpPr>
      <p:sp>
        <p:nvSpPr>
          <p:cNvPr id="24" name="Google Shape;24;p10"/>
          <p:cNvSpPr>
            <a:spLocks noGrp="1"/>
          </p:cNvSpPr>
          <p:nvPr>
            <p:ph type="pic" idx="2"/>
          </p:nvPr>
        </p:nvSpPr>
        <p:spPr>
          <a:xfrm>
            <a:off x="4800600" y="2370667"/>
            <a:ext cx="4800601" cy="806323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032">
          <p15:clr>
            <a:srgbClr val="A4A3A4"/>
          </p15:clr>
        </p15:guide>
        <p15:guide id="2" pos="3024">
          <p15:clr>
            <a:srgbClr val="A4A3A4"/>
          </p15:clr>
        </p15:guide>
        <p15:guide id="3" orient="horz" pos="1491">
          <p15:clr>
            <a:srgbClr val="A4A3A4"/>
          </p15:clr>
        </p15:guide>
        <p15:guide id="4" orient="horz" pos="646">
          <p15:clr>
            <a:srgbClr val="A4A3A4"/>
          </p15:clr>
        </p15:guide>
        <p15:guide id="5" orient="horz" pos="2339">
          <p15:clr>
            <a:srgbClr val="A4A3A4"/>
          </p15:clr>
        </p15:guide>
        <p15:guide id="6" orient="horz" pos="3185">
          <p15:clr>
            <a:srgbClr val="A4A3A4"/>
          </p15:clr>
        </p15:guide>
        <p15:guide id="7" orient="horz" pos="4879">
          <p15:clr>
            <a:srgbClr val="A4A3A4"/>
          </p15:clr>
        </p15:guide>
        <p15:guide id="8" orient="horz" pos="5725">
          <p15:clr>
            <a:srgbClr val="A4A3A4"/>
          </p15:clr>
        </p15:guide>
        <p15:guide id="9" orient="horz" pos="6573">
          <p15:clr>
            <a:srgbClr val="A4A3A4"/>
          </p15:clr>
        </p15:guide>
        <p15:guide id="10" orient="horz" pos="7418">
          <p15:clr>
            <a:srgbClr val="A4A3A4"/>
          </p15:clr>
        </p15:guide>
        <p15:guide id="11" pos="3382">
          <p15:clr>
            <a:srgbClr val="A4A3A4"/>
          </p15:clr>
        </p15:guide>
        <p15:guide id="12" pos="3738">
          <p15:clr>
            <a:srgbClr val="A4A3A4"/>
          </p15:clr>
        </p15:guide>
        <p15:guide id="13" pos="166">
          <p15:clr>
            <a:srgbClr val="A4A3A4"/>
          </p15:clr>
        </p15:guide>
        <p15:guide id="14" pos="524">
          <p15:clr>
            <a:srgbClr val="A4A3A4"/>
          </p15:clr>
        </p15:guide>
        <p15:guide id="15" pos="880">
          <p15:clr>
            <a:srgbClr val="A4A3A4"/>
          </p15:clr>
        </p15:guide>
        <p15:guide id="16" pos="1238">
          <p15:clr>
            <a:srgbClr val="A4A3A4"/>
          </p15:clr>
        </p15:guide>
        <p15:guide id="17" pos="1595">
          <p15:clr>
            <a:srgbClr val="A4A3A4"/>
          </p15:clr>
        </p15:guide>
        <p15:guide id="18" pos="1952">
          <p15:clr>
            <a:srgbClr val="A4A3A4"/>
          </p15:clr>
        </p15:guide>
        <p15:guide id="19" pos="2310">
          <p15:clr>
            <a:srgbClr val="A4A3A4"/>
          </p15:clr>
        </p15:guide>
        <p15:guide id="20" pos="2666">
          <p15:clr>
            <a:srgbClr val="A4A3A4"/>
          </p15:clr>
        </p15:guide>
        <p15:guide id="21" pos="4096">
          <p15:clr>
            <a:srgbClr val="A4A3A4"/>
          </p15:clr>
        </p15:guide>
        <p15:guide id="22" pos="4453">
          <p15:clr>
            <a:srgbClr val="A4A3A4"/>
          </p15:clr>
        </p15:guide>
        <p15:guide id="23" pos="4810">
          <p15:clr>
            <a:srgbClr val="A4A3A4"/>
          </p15:clr>
        </p15:guide>
        <p15:guide id="24" pos="5168">
          <p15:clr>
            <a:srgbClr val="A4A3A4"/>
          </p15:clr>
        </p15:guide>
        <p15:guide id="25" pos="5524">
          <p15:clr>
            <a:srgbClr val="A4A3A4"/>
          </p15:clr>
        </p15:guide>
        <p15:guide id="26" pos="5882">
          <p15:clr>
            <a:srgbClr val="A4A3A4"/>
          </p15:clr>
        </p15:guide>
        <p15:guide id="27" pos="273">
          <p15:clr>
            <a:srgbClr val="F26B43"/>
          </p15:clr>
        </p15:guide>
        <p15:guide id="28" pos="5775">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1"/>
          <p:cNvSpPr/>
          <p:nvPr/>
        </p:nvSpPr>
        <p:spPr>
          <a:xfrm>
            <a:off x="757128" y="443273"/>
            <a:ext cx="6670714" cy="654379"/>
          </a:xfrm>
          <a:prstGeom prst="rect">
            <a:avLst/>
          </a:prstGeom>
          <a:noFill/>
          <a:ln>
            <a:noFill/>
          </a:ln>
        </p:spPr>
        <p:txBody>
          <a:bodyPr spcFirstLastPara="1" wrap="square" lIns="71975" tIns="35975" rIns="71975" bIns="35975" anchor="t" anchorCtr="0">
            <a:noAutofit/>
          </a:bodyPr>
          <a:lstStyle/>
          <a:p>
            <a:pPr marL="0" lvl="0" indent="0" algn="l" rtl="0">
              <a:lnSpc>
                <a:spcPct val="115000"/>
              </a:lnSpc>
              <a:spcBef>
                <a:spcPts val="0"/>
              </a:spcBef>
              <a:spcAft>
                <a:spcPts val="0"/>
              </a:spcAft>
              <a:buNone/>
            </a:pPr>
            <a:r>
              <a:rPr lang="en-US" sz="2100" b="1">
                <a:solidFill>
                  <a:srgbClr val="235F46"/>
                </a:solidFill>
              </a:rPr>
              <a:t>Fake News Detection in Dravidian Languages</a:t>
            </a:r>
            <a:endParaRPr sz="2100" b="1">
              <a:solidFill>
                <a:srgbClr val="235F46"/>
              </a:solidFill>
            </a:endParaRPr>
          </a:p>
          <a:p>
            <a:pPr marL="0" marR="0" lvl="0" indent="0" algn="l" rtl="0">
              <a:lnSpc>
                <a:spcPct val="100000"/>
              </a:lnSpc>
              <a:spcBef>
                <a:spcPts val="0"/>
              </a:spcBef>
              <a:spcAft>
                <a:spcPts val="0"/>
              </a:spcAft>
              <a:buNone/>
            </a:pPr>
            <a:endParaRPr sz="3780" b="1">
              <a:solidFill>
                <a:srgbClr val="007069"/>
              </a:solidFill>
              <a:latin typeface="Inter"/>
              <a:ea typeface="Inter"/>
              <a:cs typeface="Inter"/>
              <a:sym typeface="Inter"/>
            </a:endParaRPr>
          </a:p>
        </p:txBody>
      </p:sp>
      <p:grpSp>
        <p:nvGrpSpPr>
          <p:cNvPr id="30" name="Google Shape;30;p11"/>
          <p:cNvGrpSpPr/>
          <p:nvPr/>
        </p:nvGrpSpPr>
        <p:grpSpPr>
          <a:xfrm>
            <a:off x="757127" y="356829"/>
            <a:ext cx="6540488" cy="740854"/>
            <a:chOff x="894442" y="2675335"/>
            <a:chExt cx="7570108" cy="940767"/>
          </a:xfrm>
        </p:grpSpPr>
        <p:sp>
          <p:nvSpPr>
            <p:cNvPr id="31" name="Google Shape;31;p11"/>
            <p:cNvSpPr/>
            <p:nvPr/>
          </p:nvSpPr>
          <p:spPr>
            <a:xfrm>
              <a:off x="894442" y="2675335"/>
              <a:ext cx="7570108" cy="45719"/>
            </a:xfrm>
            <a:prstGeom prst="rect">
              <a:avLst/>
            </a:prstGeom>
            <a:solidFill>
              <a:srgbClr val="A58255"/>
            </a:solidFill>
            <a:ln>
              <a:noFill/>
            </a:ln>
          </p:spPr>
          <p:txBody>
            <a:bodyPr spcFirstLastPara="1" wrap="square" lIns="71975" tIns="35975" rIns="71975" bIns="35975" anchor="ctr" anchorCtr="0">
              <a:noAutofit/>
            </a:bodyPr>
            <a:lstStyle/>
            <a:p>
              <a:pPr marL="0" marR="0" lvl="0" indent="0" algn="ctr" rtl="0">
                <a:lnSpc>
                  <a:spcPct val="100000"/>
                </a:lnSpc>
                <a:spcBef>
                  <a:spcPts val="0"/>
                </a:spcBef>
                <a:spcAft>
                  <a:spcPts val="0"/>
                </a:spcAft>
                <a:buNone/>
              </a:pPr>
              <a:endParaRPr sz="1418" b="0" i="0" u="none" strike="noStrike" cap="none">
                <a:solidFill>
                  <a:schemeClr val="lt1"/>
                </a:solidFill>
                <a:latin typeface="Inter"/>
                <a:ea typeface="Inter"/>
                <a:cs typeface="Inter"/>
                <a:sym typeface="Inter"/>
              </a:endParaRPr>
            </a:p>
          </p:txBody>
        </p:sp>
        <p:sp>
          <p:nvSpPr>
            <p:cNvPr id="32" name="Google Shape;32;p11"/>
            <p:cNvSpPr/>
            <p:nvPr/>
          </p:nvSpPr>
          <p:spPr>
            <a:xfrm>
              <a:off x="894442" y="3570383"/>
              <a:ext cx="7570108" cy="45719"/>
            </a:xfrm>
            <a:prstGeom prst="rect">
              <a:avLst/>
            </a:prstGeom>
            <a:solidFill>
              <a:srgbClr val="A58255"/>
            </a:solidFill>
            <a:ln>
              <a:noFill/>
            </a:ln>
          </p:spPr>
          <p:txBody>
            <a:bodyPr spcFirstLastPara="1" wrap="square" lIns="71975" tIns="35975" rIns="71975" bIns="35975" anchor="ctr" anchorCtr="0">
              <a:noAutofit/>
            </a:bodyPr>
            <a:lstStyle/>
            <a:p>
              <a:pPr marL="0" marR="0" lvl="0" indent="0" algn="ctr" rtl="0">
                <a:lnSpc>
                  <a:spcPct val="100000"/>
                </a:lnSpc>
                <a:spcBef>
                  <a:spcPts val="0"/>
                </a:spcBef>
                <a:spcAft>
                  <a:spcPts val="0"/>
                </a:spcAft>
                <a:buNone/>
              </a:pPr>
              <a:endParaRPr sz="1418" b="0" i="0" u="none" strike="noStrike" cap="none">
                <a:solidFill>
                  <a:schemeClr val="lt1"/>
                </a:solidFill>
                <a:latin typeface="Inter"/>
                <a:ea typeface="Inter"/>
                <a:cs typeface="Inter"/>
                <a:sym typeface="Inter"/>
              </a:endParaRPr>
            </a:p>
          </p:txBody>
        </p:sp>
      </p:grpSp>
      <p:sp>
        <p:nvSpPr>
          <p:cNvPr id="33" name="Google Shape;33;p11"/>
          <p:cNvSpPr txBox="1"/>
          <p:nvPr/>
        </p:nvSpPr>
        <p:spPr>
          <a:xfrm>
            <a:off x="757126" y="1159308"/>
            <a:ext cx="6375194" cy="1119093"/>
          </a:xfrm>
          <a:prstGeom prst="rect">
            <a:avLst/>
          </a:prstGeom>
          <a:noFill/>
          <a:ln>
            <a:noFill/>
          </a:ln>
        </p:spPr>
        <p:txBody>
          <a:bodyPr spcFirstLastPara="1" wrap="square" lIns="71975" tIns="35975" rIns="71975" bIns="35975"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4740"/>
                </a:solidFill>
                <a:latin typeface="Inter"/>
                <a:ea typeface="Inter"/>
                <a:cs typeface="Inter"/>
                <a:sym typeface="Inter"/>
              </a:rPr>
              <a:t>Presenter Names</a:t>
            </a:r>
            <a:endParaRPr lang="en-US" sz="1600" dirty="0">
              <a:solidFill>
                <a:srgbClr val="004740"/>
              </a:solidFill>
              <a:latin typeface="Inter"/>
              <a:ea typeface="Inter"/>
              <a:cs typeface="Inter"/>
              <a:sym typeface="Inter"/>
            </a:endParaRPr>
          </a:p>
          <a:p>
            <a:pPr marL="0" marR="0" lvl="0" indent="0" algn="l" rtl="0">
              <a:lnSpc>
                <a:spcPct val="100000"/>
              </a:lnSpc>
              <a:spcBef>
                <a:spcPts val="0"/>
              </a:spcBef>
              <a:spcAft>
                <a:spcPts val="0"/>
              </a:spcAft>
              <a:buNone/>
            </a:pPr>
            <a:endParaRPr lang="en-US" sz="1100" b="0" i="0" u="none" strike="noStrike" cap="none" dirty="0">
              <a:solidFill>
                <a:srgbClr val="004740"/>
              </a:solidFill>
              <a:latin typeface="Inter"/>
              <a:ea typeface="Inter"/>
              <a:cs typeface="Inter"/>
              <a:sym typeface="Inter"/>
            </a:endParaRPr>
          </a:p>
          <a:p>
            <a:pPr marL="0" marR="0" lvl="0" indent="0" algn="l" rtl="0">
              <a:lnSpc>
                <a:spcPct val="100000"/>
              </a:lnSpc>
              <a:spcBef>
                <a:spcPts val="0"/>
              </a:spcBef>
              <a:spcAft>
                <a:spcPts val="0"/>
              </a:spcAft>
              <a:buNone/>
            </a:pPr>
            <a:r>
              <a:rPr lang="en-US" sz="1100" dirty="0">
                <a:solidFill>
                  <a:srgbClr val="004740"/>
                </a:solidFill>
                <a:latin typeface="Inter"/>
                <a:ea typeface="Inter"/>
                <a:cs typeface="Inter"/>
                <a:sym typeface="Inter"/>
              </a:rPr>
              <a:t>Balaji Kilari-VU21CSEN0101227,Visawanadha Raju-VU21CSEN0100166</a:t>
            </a:r>
          </a:p>
          <a:p>
            <a:pPr marL="0" marR="0" lvl="0" indent="0" algn="l" rtl="0">
              <a:lnSpc>
                <a:spcPct val="100000"/>
              </a:lnSpc>
              <a:spcBef>
                <a:spcPts val="0"/>
              </a:spcBef>
              <a:spcAft>
                <a:spcPts val="0"/>
              </a:spcAft>
              <a:buNone/>
            </a:pPr>
            <a:r>
              <a:rPr lang="en-US" sz="1100" b="0" i="0" u="none" strike="noStrike" cap="none" dirty="0">
                <a:solidFill>
                  <a:srgbClr val="004740"/>
                </a:solidFill>
                <a:latin typeface="Inter"/>
                <a:ea typeface="Inter"/>
                <a:cs typeface="Inter"/>
                <a:sym typeface="Inter"/>
              </a:rPr>
              <a:t>B</a:t>
            </a:r>
            <a:r>
              <a:rPr lang="en-US" sz="1100" dirty="0">
                <a:solidFill>
                  <a:srgbClr val="004740"/>
                </a:solidFill>
                <a:latin typeface="Inter"/>
                <a:ea typeface="Inter"/>
                <a:cs typeface="Inter"/>
                <a:sym typeface="Inter"/>
              </a:rPr>
              <a:t>havana Indukuri-VU21CSEN0101227, Nallana Riteesh Preetam-VU21CSEN0101555</a:t>
            </a:r>
          </a:p>
          <a:p>
            <a:pPr marL="0" marR="0" lvl="0" indent="0" algn="l" rtl="0">
              <a:lnSpc>
                <a:spcPct val="100000"/>
              </a:lnSpc>
              <a:spcBef>
                <a:spcPts val="0"/>
              </a:spcBef>
              <a:spcAft>
                <a:spcPts val="0"/>
              </a:spcAft>
              <a:buNone/>
            </a:pPr>
            <a:endParaRPr lang="en-US" sz="800" dirty="0">
              <a:solidFill>
                <a:srgbClr val="004740"/>
              </a:solidFill>
              <a:latin typeface="Inter"/>
              <a:ea typeface="Inter"/>
              <a:cs typeface="Inter"/>
              <a:sym typeface="Inter"/>
            </a:endParaRPr>
          </a:p>
          <a:p>
            <a:pPr marL="0" marR="0" lvl="0" indent="0" algn="l" rtl="0">
              <a:lnSpc>
                <a:spcPct val="100000"/>
              </a:lnSpc>
              <a:spcBef>
                <a:spcPts val="0"/>
              </a:spcBef>
              <a:spcAft>
                <a:spcPts val="0"/>
              </a:spcAft>
              <a:buNone/>
            </a:pPr>
            <a:r>
              <a:rPr lang="en-US" sz="1100" dirty="0">
                <a:solidFill>
                  <a:srgbClr val="004740"/>
                </a:solidFill>
                <a:latin typeface="Inter"/>
                <a:ea typeface="Inter"/>
                <a:cs typeface="Inter"/>
                <a:sym typeface="Inter"/>
              </a:rPr>
              <a:t>Guide Name - Dr. Ravi Teja Gedela </a:t>
            </a:r>
            <a:endParaRPr lang="en-US" sz="1100" b="0" i="0" u="none" strike="noStrike" cap="none" dirty="0">
              <a:solidFill>
                <a:srgbClr val="004740"/>
              </a:solidFill>
              <a:latin typeface="Inter"/>
              <a:ea typeface="Inter"/>
              <a:cs typeface="Inter"/>
              <a:sym typeface="Inter"/>
            </a:endParaRPr>
          </a:p>
        </p:txBody>
      </p:sp>
      <p:sp>
        <p:nvSpPr>
          <p:cNvPr id="34" name="Google Shape;34;p11"/>
          <p:cNvSpPr txBox="1"/>
          <p:nvPr/>
        </p:nvSpPr>
        <p:spPr>
          <a:xfrm>
            <a:off x="320511" y="12444771"/>
            <a:ext cx="3771974" cy="290882"/>
          </a:xfrm>
          <a:prstGeom prst="rect">
            <a:avLst/>
          </a:prstGeom>
          <a:noFill/>
          <a:ln>
            <a:noFill/>
          </a:ln>
        </p:spPr>
        <p:txBody>
          <a:bodyPr spcFirstLastPara="1" wrap="square" lIns="71975" tIns="35975" rIns="71975" bIns="35975" anchor="t" anchorCtr="0">
            <a:spAutoFit/>
          </a:bodyPr>
          <a:lstStyle/>
          <a:p>
            <a:pPr marL="0" marR="0" lvl="0" indent="0" algn="l" rtl="0">
              <a:lnSpc>
                <a:spcPct val="100000"/>
              </a:lnSpc>
              <a:spcBef>
                <a:spcPts val="0"/>
              </a:spcBef>
              <a:spcAft>
                <a:spcPts val="0"/>
              </a:spcAft>
              <a:buNone/>
            </a:pPr>
            <a:r>
              <a:rPr lang="en-US" sz="1418" b="0" i="0" u="none" strike="noStrike" cap="none" dirty="0">
                <a:solidFill>
                  <a:srgbClr val="7F7F7F"/>
                </a:solidFill>
                <a:latin typeface="Inter"/>
                <a:ea typeface="Inter"/>
                <a:cs typeface="Inter"/>
                <a:sym typeface="Inter"/>
              </a:rPr>
              <a:t>CSE, GST, Visakhapatnam</a:t>
            </a:r>
            <a:endParaRPr sz="1418" b="0" i="0" u="none" strike="noStrike" cap="none" dirty="0">
              <a:solidFill>
                <a:srgbClr val="7F7F7F"/>
              </a:solidFill>
              <a:latin typeface="Inter"/>
              <a:ea typeface="Inter"/>
              <a:cs typeface="Inter"/>
              <a:sym typeface="Inter"/>
            </a:endParaRPr>
          </a:p>
        </p:txBody>
      </p:sp>
      <p:pic>
        <p:nvPicPr>
          <p:cNvPr id="35" name="Google Shape;35;p11"/>
          <p:cNvPicPr preferRelativeResize="0"/>
          <p:nvPr/>
        </p:nvPicPr>
        <p:blipFill rotWithShape="1">
          <a:blip r:embed="rId3">
            <a:alphaModFix/>
          </a:blip>
          <a:srcRect/>
          <a:stretch/>
        </p:blipFill>
        <p:spPr>
          <a:xfrm>
            <a:off x="7535012" y="356829"/>
            <a:ext cx="1653751" cy="708750"/>
          </a:xfrm>
          <a:prstGeom prst="rect">
            <a:avLst/>
          </a:prstGeom>
          <a:noFill/>
          <a:ln>
            <a:noFill/>
          </a:ln>
        </p:spPr>
      </p:pic>
      <p:sp>
        <p:nvSpPr>
          <p:cNvPr id="37" name="Google Shape;37;p11"/>
          <p:cNvSpPr txBox="1"/>
          <p:nvPr/>
        </p:nvSpPr>
        <p:spPr>
          <a:xfrm>
            <a:off x="723251" y="2367798"/>
            <a:ext cx="4043473" cy="307777"/>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lt1"/>
                </a:solidFill>
                <a:latin typeface="Inter"/>
                <a:ea typeface="Inter"/>
                <a:cs typeface="Inter"/>
                <a:sym typeface="Inter"/>
              </a:rPr>
              <a:t>Introduction</a:t>
            </a:r>
            <a:endParaRPr sz="1400" b="0" i="0" u="none" strike="noStrike" cap="none" dirty="0">
              <a:solidFill>
                <a:schemeClr val="lt1"/>
              </a:solidFill>
              <a:latin typeface="Arial"/>
              <a:ea typeface="Arial"/>
              <a:cs typeface="Arial"/>
              <a:sym typeface="Arial"/>
            </a:endParaRPr>
          </a:p>
        </p:txBody>
      </p:sp>
      <p:sp>
        <p:nvSpPr>
          <p:cNvPr id="38" name="Google Shape;38;p11"/>
          <p:cNvSpPr txBox="1"/>
          <p:nvPr/>
        </p:nvSpPr>
        <p:spPr>
          <a:xfrm>
            <a:off x="723250" y="4755502"/>
            <a:ext cx="4043400" cy="307800"/>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1"/>
                </a:solidFill>
                <a:latin typeface="Inter"/>
                <a:ea typeface="Inter"/>
                <a:cs typeface="Inter"/>
                <a:sym typeface="Inter"/>
              </a:rPr>
              <a:t>Methods</a:t>
            </a:r>
            <a:endParaRPr sz="1400" b="0" i="0" u="none" strike="noStrike" cap="none">
              <a:solidFill>
                <a:schemeClr val="lt1"/>
              </a:solidFill>
              <a:latin typeface="Arial"/>
              <a:ea typeface="Arial"/>
              <a:cs typeface="Arial"/>
              <a:sym typeface="Arial"/>
            </a:endParaRPr>
          </a:p>
        </p:txBody>
      </p:sp>
      <p:sp>
        <p:nvSpPr>
          <p:cNvPr id="39" name="Google Shape;39;p11"/>
          <p:cNvSpPr txBox="1"/>
          <p:nvPr/>
        </p:nvSpPr>
        <p:spPr>
          <a:xfrm>
            <a:off x="5145360" y="2359563"/>
            <a:ext cx="4043400" cy="307800"/>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lt1"/>
                </a:solidFill>
                <a:latin typeface="Inter"/>
                <a:ea typeface="Inter"/>
                <a:cs typeface="Inter"/>
                <a:sym typeface="Inter"/>
              </a:rPr>
              <a:t>Data Analysis</a:t>
            </a:r>
            <a:endParaRPr sz="1400" b="0" i="0" u="none" strike="noStrike" cap="none" dirty="0">
              <a:solidFill>
                <a:schemeClr val="lt1"/>
              </a:solidFill>
              <a:latin typeface="Arial"/>
              <a:ea typeface="Arial"/>
              <a:cs typeface="Arial"/>
              <a:sym typeface="Arial"/>
            </a:endParaRPr>
          </a:p>
        </p:txBody>
      </p:sp>
      <p:sp>
        <p:nvSpPr>
          <p:cNvPr id="40" name="Google Shape;40;p11"/>
          <p:cNvSpPr txBox="1"/>
          <p:nvPr/>
        </p:nvSpPr>
        <p:spPr>
          <a:xfrm>
            <a:off x="5145212" y="6461113"/>
            <a:ext cx="4043473" cy="307777"/>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lt1"/>
                </a:solidFill>
                <a:latin typeface="Inter"/>
                <a:ea typeface="Inter"/>
                <a:cs typeface="Inter"/>
                <a:sym typeface="Inter"/>
              </a:rPr>
              <a:t>Findings and Results</a:t>
            </a:r>
            <a:endParaRPr sz="1400" b="0" i="0" u="none" strike="noStrike" cap="none" dirty="0">
              <a:solidFill>
                <a:schemeClr val="lt1"/>
              </a:solidFill>
              <a:latin typeface="Arial"/>
              <a:ea typeface="Arial"/>
              <a:cs typeface="Arial"/>
              <a:sym typeface="Arial"/>
            </a:endParaRPr>
          </a:p>
        </p:txBody>
      </p:sp>
      <p:sp>
        <p:nvSpPr>
          <p:cNvPr id="41" name="Google Shape;41;p11"/>
          <p:cNvSpPr txBox="1"/>
          <p:nvPr/>
        </p:nvSpPr>
        <p:spPr>
          <a:xfrm>
            <a:off x="5145213" y="8350085"/>
            <a:ext cx="4043473" cy="307777"/>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1"/>
                </a:solidFill>
                <a:latin typeface="Inter"/>
                <a:ea typeface="Inter"/>
                <a:cs typeface="Inter"/>
                <a:sym typeface="Inter"/>
              </a:rPr>
              <a:t>Conclusions</a:t>
            </a:r>
            <a:endParaRPr sz="1400" b="0" i="0" u="none" strike="noStrike" cap="none">
              <a:solidFill>
                <a:schemeClr val="lt1"/>
              </a:solidFill>
              <a:latin typeface="Arial"/>
              <a:ea typeface="Arial"/>
              <a:cs typeface="Arial"/>
              <a:sym typeface="Arial"/>
            </a:endParaRPr>
          </a:p>
        </p:txBody>
      </p:sp>
      <p:sp>
        <p:nvSpPr>
          <p:cNvPr id="42" name="Google Shape;42;p11"/>
          <p:cNvSpPr txBox="1"/>
          <p:nvPr/>
        </p:nvSpPr>
        <p:spPr>
          <a:xfrm>
            <a:off x="5145287" y="9642680"/>
            <a:ext cx="4043473" cy="307777"/>
          </a:xfrm>
          <a:prstGeom prst="rect">
            <a:avLst/>
          </a:prstGeom>
          <a:solidFill>
            <a:srgbClr val="A58255"/>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lt1"/>
                </a:solidFill>
                <a:latin typeface="Inter"/>
                <a:ea typeface="Inter"/>
                <a:cs typeface="Inter"/>
                <a:sym typeface="Inter"/>
              </a:rPr>
              <a:t>References</a:t>
            </a:r>
            <a:endParaRPr sz="1400" b="0" i="0" u="none" strike="noStrike" cap="none" dirty="0">
              <a:solidFill>
                <a:schemeClr val="lt1"/>
              </a:solidFill>
              <a:latin typeface="Arial"/>
              <a:ea typeface="Arial"/>
              <a:cs typeface="Arial"/>
              <a:sym typeface="Arial"/>
            </a:endParaRPr>
          </a:p>
        </p:txBody>
      </p:sp>
      <p:sp>
        <p:nvSpPr>
          <p:cNvPr id="43" name="Google Shape;43;p11"/>
          <p:cNvSpPr txBox="1"/>
          <p:nvPr/>
        </p:nvSpPr>
        <p:spPr>
          <a:xfrm>
            <a:off x="723250" y="2675575"/>
            <a:ext cx="4043400" cy="1902600"/>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800" dirty="0"/>
              <a:t>"Fake news spreads rapidly, misleading the public and shaping false narratives. While English has robust detection models, Dravidian languages (Tamil, Telugu, Kannada, Malayalam) lack effective solutions due to linguistic complexities and limited resources. This project develops a specialized model to bridge this gap, enhancing misinformation detection and fostering reliable information in Dravidian-speaking communities."</a:t>
            </a:r>
            <a:endParaRPr lang="en-IN" sz="800" dirty="0">
              <a:solidFill>
                <a:schemeClr val="dk1"/>
              </a:solidFill>
            </a:endParaRPr>
          </a:p>
          <a:p>
            <a:pPr marL="0" marR="0" lvl="0" indent="0" algn="l" rtl="0">
              <a:lnSpc>
                <a:spcPct val="100000"/>
              </a:lnSpc>
              <a:spcBef>
                <a:spcPts val="0"/>
              </a:spcBef>
              <a:spcAft>
                <a:spcPts val="0"/>
              </a:spcAft>
              <a:buNone/>
            </a:pPr>
            <a:endParaRPr lang="en-IN" sz="1400" b="0" i="0" u="none" strike="noStrike" cap="none" dirty="0">
              <a:solidFill>
                <a:srgbClr val="000000"/>
              </a:solidFill>
              <a:latin typeface="Arial"/>
              <a:ea typeface="Arial"/>
              <a:cs typeface="Arial"/>
              <a:sym typeface="Arial"/>
            </a:endParaRPr>
          </a:p>
        </p:txBody>
      </p:sp>
      <p:sp>
        <p:nvSpPr>
          <p:cNvPr id="44" name="Google Shape;44;p11"/>
          <p:cNvSpPr txBox="1"/>
          <p:nvPr/>
        </p:nvSpPr>
        <p:spPr>
          <a:xfrm>
            <a:off x="723250" y="5026619"/>
            <a:ext cx="4043400" cy="7417639"/>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marR="0" lvl="0" algn="just" rtl="0">
              <a:lnSpc>
                <a:spcPct val="100000"/>
              </a:lnSpc>
              <a:spcBef>
                <a:spcPts val="0"/>
              </a:spcBef>
              <a:spcAft>
                <a:spcPts val="0"/>
              </a:spcAft>
            </a:pPr>
            <a:endParaRPr lang="en-US" sz="900" b="1" dirty="0"/>
          </a:p>
          <a:p>
            <a:pPr>
              <a:buNone/>
            </a:pPr>
            <a:r>
              <a:rPr lang="en-IN" sz="1050" dirty="0"/>
              <a:t>📌 </a:t>
            </a:r>
            <a:r>
              <a:rPr lang="en-IN" sz="800" b="1" dirty="0"/>
              <a:t>1) MuRiL (Multilingual Representations for Indian Languages)</a:t>
            </a:r>
            <a:endParaRPr lang="en-IN" sz="800" dirty="0"/>
          </a:p>
          <a:p>
            <a:pPr>
              <a:buFont typeface="Arial" panose="020B0604020202020204" pitchFamily="34" charset="0"/>
              <a:buChar char="•"/>
            </a:pPr>
            <a:r>
              <a:rPr lang="en-IN" sz="800" dirty="0"/>
              <a:t>A </a:t>
            </a:r>
            <a:r>
              <a:rPr lang="en-IN" sz="800" b="1" dirty="0"/>
              <a:t>pretrained transformer model</a:t>
            </a:r>
            <a:r>
              <a:rPr lang="en-IN" sz="800" dirty="0"/>
              <a:t> optimized for low-resource Indian languages like Telugu.</a:t>
            </a:r>
          </a:p>
          <a:p>
            <a:pPr>
              <a:buFont typeface="Arial" panose="020B0604020202020204" pitchFamily="34" charset="0"/>
              <a:buChar char="•"/>
            </a:pPr>
            <a:r>
              <a:rPr lang="en-IN" sz="800" dirty="0"/>
              <a:t>Generates </a:t>
            </a:r>
            <a:r>
              <a:rPr lang="en-IN" sz="800" b="1" dirty="0"/>
              <a:t>word embeddings</a:t>
            </a:r>
            <a:r>
              <a:rPr lang="en-IN" sz="800" dirty="0"/>
              <a:t> to capture contextual meaning.</a:t>
            </a:r>
          </a:p>
          <a:p>
            <a:pPr>
              <a:buFont typeface="Arial" panose="020B0604020202020204" pitchFamily="34" charset="0"/>
              <a:buChar char="•"/>
            </a:pPr>
            <a:r>
              <a:rPr lang="en-IN" sz="800" dirty="0"/>
              <a:t>Converts pre-processed text into a </a:t>
            </a:r>
            <a:r>
              <a:rPr lang="en-IN" sz="800" b="1" dirty="0"/>
              <a:t>[None, 128, 768] word vector</a:t>
            </a:r>
            <a:r>
              <a:rPr lang="en-IN" sz="800" dirty="0"/>
              <a:t> for deep analysis.</a:t>
            </a:r>
          </a:p>
          <a:p>
            <a:pPr marR="0" lvl="0" algn="just" rtl="0">
              <a:lnSpc>
                <a:spcPct val="100000"/>
              </a:lnSpc>
              <a:spcBef>
                <a:spcPts val="0"/>
              </a:spcBef>
              <a:spcAft>
                <a:spcPts val="0"/>
              </a:spcAft>
            </a:pPr>
            <a:endParaRPr sz="900" dirty="0"/>
          </a:p>
          <a:p>
            <a:pPr>
              <a:buNone/>
            </a:pPr>
            <a:r>
              <a:rPr lang="en-IN" sz="800" b="1" dirty="0"/>
              <a:t>2) Residual CNN (</a:t>
            </a:r>
            <a:r>
              <a:rPr lang="en-IN" sz="800" b="1" dirty="0" err="1"/>
              <a:t>ResNet</a:t>
            </a:r>
            <a:r>
              <a:rPr lang="en-IN" sz="800" b="1" dirty="0"/>
              <a:t>) for Fake News Detection</a:t>
            </a:r>
          </a:p>
          <a:p>
            <a:pPr>
              <a:buNone/>
            </a:pPr>
            <a:r>
              <a:rPr lang="en-IN" sz="800" dirty="0"/>
              <a:t>A </a:t>
            </a:r>
            <a:r>
              <a:rPr lang="en-IN" sz="800" b="1" dirty="0"/>
              <a:t>Residual Convolutional Neural Network (</a:t>
            </a:r>
            <a:r>
              <a:rPr lang="en-IN" sz="800" b="1" dirty="0" err="1"/>
              <a:t>ResNet</a:t>
            </a:r>
            <a:r>
              <a:rPr lang="en-IN" sz="800" b="1" dirty="0"/>
              <a:t>)</a:t>
            </a:r>
            <a:r>
              <a:rPr lang="en-IN" sz="800" dirty="0"/>
              <a:t> enhances </a:t>
            </a:r>
            <a:r>
              <a:rPr lang="en-IN" sz="800" b="1" dirty="0"/>
              <a:t>feature extraction</a:t>
            </a:r>
            <a:r>
              <a:rPr lang="en-IN" sz="800" dirty="0"/>
              <a:t> through </a:t>
            </a:r>
            <a:r>
              <a:rPr lang="en-IN" sz="800" b="1" dirty="0"/>
              <a:t>skip connections</a:t>
            </a:r>
            <a:r>
              <a:rPr lang="en-IN" sz="800" dirty="0"/>
              <a:t>, allowing information to flow across layers without degradation. This architecture:</a:t>
            </a:r>
            <a:br>
              <a:rPr lang="en-IN" sz="800" dirty="0"/>
            </a:br>
            <a:r>
              <a:rPr lang="en-IN" sz="800" dirty="0"/>
              <a:t>✅ </a:t>
            </a:r>
            <a:r>
              <a:rPr lang="en-IN" sz="800" b="1" dirty="0"/>
              <a:t>Preserves critical local patterns</a:t>
            </a:r>
            <a:r>
              <a:rPr lang="en-IN" sz="800" dirty="0"/>
              <a:t>, ensuring short-range dependencies remain intact.</a:t>
            </a:r>
            <a:br>
              <a:rPr lang="en-IN" sz="800" dirty="0"/>
            </a:br>
            <a:r>
              <a:rPr lang="en-IN" sz="800" dirty="0"/>
              <a:t>✅ </a:t>
            </a:r>
            <a:r>
              <a:rPr lang="en-IN" sz="800" b="1" dirty="0"/>
              <a:t>Enhances deep learning models' ability</a:t>
            </a:r>
            <a:r>
              <a:rPr lang="en-IN" sz="800" dirty="0"/>
              <a:t> to detect nuanced fake news patterns.</a:t>
            </a:r>
            <a:br>
              <a:rPr lang="en-IN" sz="800" dirty="0"/>
            </a:br>
            <a:r>
              <a:rPr lang="en-IN" sz="800" dirty="0"/>
              <a:t>✅ </a:t>
            </a:r>
            <a:r>
              <a:rPr lang="en-IN" sz="800" b="1" dirty="0"/>
              <a:t>Optimizes information retention</a:t>
            </a:r>
            <a:r>
              <a:rPr lang="en-IN" sz="800" dirty="0"/>
              <a:t>, improving accuracy in text classification.</a:t>
            </a:r>
          </a:p>
          <a:p>
            <a:r>
              <a:rPr lang="en-IN" sz="800" dirty="0"/>
              <a:t>By leveraging </a:t>
            </a:r>
            <a:r>
              <a:rPr lang="en-IN" sz="800" dirty="0" err="1"/>
              <a:t>ResNet</a:t>
            </a:r>
            <a:r>
              <a:rPr lang="en-IN" sz="800" dirty="0"/>
              <a:t>, we strengthen </a:t>
            </a:r>
            <a:r>
              <a:rPr lang="en-IN" sz="800" b="1" dirty="0"/>
              <a:t>fake news detection</a:t>
            </a:r>
            <a:r>
              <a:rPr lang="en-IN" sz="800" dirty="0"/>
              <a:t> in complex linguistic structures. 🚀</a:t>
            </a:r>
          </a:p>
          <a:p>
            <a:pPr marL="0" marR="0" lvl="0" indent="0" algn="just" rtl="0">
              <a:lnSpc>
                <a:spcPct val="100000"/>
              </a:lnSpc>
              <a:spcBef>
                <a:spcPts val="0"/>
              </a:spcBef>
              <a:spcAft>
                <a:spcPts val="0"/>
              </a:spcAft>
              <a:buNone/>
            </a:pPr>
            <a:r>
              <a:rPr lang="en-US" sz="800" dirty="0"/>
              <a:t>.</a:t>
            </a:r>
          </a:p>
          <a:p>
            <a:pPr marL="171450" marR="0" lvl="0" indent="-171450" algn="just" rtl="0">
              <a:lnSpc>
                <a:spcPct val="100000"/>
              </a:lnSpc>
              <a:spcBef>
                <a:spcPts val="0"/>
              </a:spcBef>
              <a:spcAft>
                <a:spcPts val="0"/>
              </a:spcAft>
              <a:buFont typeface="Wingdings" panose="05000000000000000000" pitchFamily="2" charset="2"/>
              <a:buChar char="Ø"/>
            </a:pPr>
            <a:endParaRPr lang="en-US" sz="800" b="1" dirty="0"/>
          </a:p>
          <a:p>
            <a:pPr marL="171450" marR="0" lvl="0" indent="-171450" algn="just" rtl="0">
              <a:lnSpc>
                <a:spcPct val="100000"/>
              </a:lnSpc>
              <a:spcBef>
                <a:spcPts val="0"/>
              </a:spcBef>
              <a:spcAft>
                <a:spcPts val="0"/>
              </a:spcAft>
              <a:buFont typeface="Wingdings" panose="05000000000000000000" pitchFamily="2" charset="2"/>
              <a:buChar char="Ø"/>
            </a:pPr>
            <a:endParaRPr lang="en-US" sz="800" b="1" dirty="0"/>
          </a:p>
          <a:p>
            <a:pPr marR="0" lvl="0" algn="just" rtl="0">
              <a:lnSpc>
                <a:spcPct val="100000"/>
              </a:lnSpc>
              <a:spcBef>
                <a:spcPts val="0"/>
              </a:spcBef>
              <a:spcAft>
                <a:spcPts val="0"/>
              </a:spcAft>
            </a:pPr>
            <a:endParaRPr sz="800" b="1" dirty="0"/>
          </a:p>
          <a:p>
            <a:pPr marL="457200" marR="0" lvl="0" indent="-304800" algn="just" rtl="0">
              <a:lnSpc>
                <a:spcPct val="100000"/>
              </a:lnSpc>
              <a:spcBef>
                <a:spcPts val="0"/>
              </a:spcBef>
              <a:spcAft>
                <a:spcPts val="0"/>
              </a:spcAft>
              <a:buSzPts val="1200"/>
              <a:buChar char="●"/>
            </a:pPr>
            <a:endParaRPr lang="en-IN" sz="1000" b="1" dirty="0"/>
          </a:p>
          <a:p>
            <a:pPr marL="457200" marR="0" lvl="0" indent="-304800" algn="just" rtl="0">
              <a:lnSpc>
                <a:spcPct val="100000"/>
              </a:lnSpc>
              <a:spcBef>
                <a:spcPts val="0"/>
              </a:spcBef>
              <a:spcAft>
                <a:spcPts val="0"/>
              </a:spcAft>
              <a:buSzPts val="1200"/>
              <a:buChar char="●"/>
            </a:pPr>
            <a:endParaRPr lang="en-IN" sz="1000" b="1" dirty="0"/>
          </a:p>
          <a:p>
            <a:pPr marL="457200" marR="0" lvl="0" indent="-304800" algn="just" rtl="0">
              <a:lnSpc>
                <a:spcPct val="100000"/>
              </a:lnSpc>
              <a:spcBef>
                <a:spcPts val="0"/>
              </a:spcBef>
              <a:spcAft>
                <a:spcPts val="0"/>
              </a:spcAft>
              <a:buSzPts val="1200"/>
              <a:buChar char="●"/>
            </a:pPr>
            <a:endParaRPr lang="en-IN" sz="1000" b="1" dirty="0"/>
          </a:p>
          <a:p>
            <a:pPr marL="457200" marR="0" lvl="0" indent="-304800" algn="just" rtl="0">
              <a:lnSpc>
                <a:spcPct val="100000"/>
              </a:lnSpc>
              <a:spcBef>
                <a:spcPts val="0"/>
              </a:spcBef>
              <a:spcAft>
                <a:spcPts val="0"/>
              </a:spcAft>
              <a:buSzPts val="1200"/>
              <a:buChar char="●"/>
            </a:pPr>
            <a:endParaRPr lang="en-IN" sz="1000" b="1" dirty="0"/>
          </a:p>
          <a:p>
            <a:pPr marL="457200" marR="0" lvl="0" indent="-304800" algn="just" rtl="0">
              <a:lnSpc>
                <a:spcPct val="100000"/>
              </a:lnSpc>
              <a:spcBef>
                <a:spcPts val="0"/>
              </a:spcBef>
              <a:spcAft>
                <a:spcPts val="0"/>
              </a:spcAft>
              <a:buSzPts val="1200"/>
              <a:buChar char="●"/>
            </a:pPr>
            <a:endParaRPr lang="en-IN" sz="1000" b="1" dirty="0"/>
          </a:p>
          <a:p>
            <a:pPr marL="457200" marR="0" lvl="0" indent="-304800" algn="just" rtl="0">
              <a:lnSpc>
                <a:spcPct val="100000"/>
              </a:lnSpc>
              <a:spcBef>
                <a:spcPts val="0"/>
              </a:spcBef>
              <a:spcAft>
                <a:spcPts val="0"/>
              </a:spcAft>
              <a:buSzPts val="1200"/>
              <a:buChar char="●"/>
            </a:pPr>
            <a:endParaRPr lang="en-IN" sz="1000" b="1" dirty="0"/>
          </a:p>
          <a:p>
            <a:pPr marL="152400" marR="0" lvl="0" algn="just" rtl="0">
              <a:lnSpc>
                <a:spcPct val="100000"/>
              </a:lnSpc>
              <a:spcBef>
                <a:spcPts val="0"/>
              </a:spcBef>
              <a:spcAft>
                <a:spcPts val="0"/>
              </a:spcAft>
              <a:buSzPts val="1200"/>
            </a:pPr>
            <a:endParaRPr sz="1000" b="1" dirty="0"/>
          </a:p>
          <a:p>
            <a:pPr>
              <a:buNone/>
            </a:pPr>
            <a:r>
              <a:rPr lang="en-US" sz="900" b="1" dirty="0"/>
              <a:t>3)</a:t>
            </a:r>
            <a:r>
              <a:rPr lang="en-IN" sz="1000" b="1" dirty="0"/>
              <a:t> </a:t>
            </a:r>
            <a:r>
              <a:rPr lang="en-IN" sz="800" b="1" dirty="0"/>
              <a:t>Bidirectional LSTM (</a:t>
            </a:r>
            <a:r>
              <a:rPr lang="en-IN" sz="800" b="1" dirty="0" err="1"/>
              <a:t>BiLSTM</a:t>
            </a:r>
            <a:r>
              <a:rPr lang="en-IN" sz="800" b="1" dirty="0"/>
              <a:t>) for Contextual Learning</a:t>
            </a:r>
          </a:p>
          <a:p>
            <a:pPr>
              <a:buNone/>
            </a:pPr>
            <a:r>
              <a:rPr lang="en-IN" sz="800" dirty="0"/>
              <a:t>A </a:t>
            </a:r>
            <a:r>
              <a:rPr lang="en-IN" sz="800" b="1" dirty="0"/>
              <a:t>Bidirectional Long Short-Term Memory (</a:t>
            </a:r>
            <a:r>
              <a:rPr lang="en-IN" sz="800" b="1" dirty="0" err="1"/>
              <a:t>BiLSTM</a:t>
            </a:r>
            <a:r>
              <a:rPr lang="en-IN" sz="800" b="1" dirty="0"/>
              <a:t>)</a:t>
            </a:r>
            <a:r>
              <a:rPr lang="en-IN" sz="800" dirty="0"/>
              <a:t> network enhances sequential data processing by utilizing </a:t>
            </a:r>
            <a:r>
              <a:rPr lang="en-IN" sz="800" b="1" dirty="0"/>
              <a:t>two LSTM layers</a:t>
            </a:r>
            <a:r>
              <a:rPr lang="en-IN" sz="800" dirty="0"/>
              <a:t>—one moving </a:t>
            </a:r>
            <a:r>
              <a:rPr lang="en-IN" sz="800" b="1" dirty="0"/>
              <a:t>forward</a:t>
            </a:r>
            <a:r>
              <a:rPr lang="en-IN" sz="800" dirty="0"/>
              <a:t> and the other </a:t>
            </a:r>
            <a:r>
              <a:rPr lang="en-IN" sz="800" b="1" dirty="0"/>
              <a:t>backward</a:t>
            </a:r>
            <a:r>
              <a:rPr lang="en-IN" sz="800" dirty="0"/>
              <a:t>. This architecture:</a:t>
            </a:r>
            <a:br>
              <a:rPr lang="en-IN" sz="800" dirty="0"/>
            </a:br>
            <a:r>
              <a:rPr lang="en-IN" sz="800" dirty="0"/>
              <a:t>✅ </a:t>
            </a:r>
            <a:r>
              <a:rPr lang="en-IN" sz="800" b="1" dirty="0"/>
              <a:t>Captures contextual insights</a:t>
            </a:r>
            <a:r>
              <a:rPr lang="en-IN" sz="800" dirty="0"/>
              <a:t> from both past and future sequences.</a:t>
            </a:r>
            <a:br>
              <a:rPr lang="en-IN" sz="800" dirty="0"/>
            </a:br>
            <a:r>
              <a:rPr lang="en-IN" sz="800" dirty="0"/>
              <a:t>✅ </a:t>
            </a:r>
            <a:r>
              <a:rPr lang="en-IN" sz="800" b="1" dirty="0"/>
              <a:t>Effectively handles long-range dependencies</a:t>
            </a:r>
            <a:r>
              <a:rPr lang="en-IN" sz="800" dirty="0"/>
              <a:t> for improved text understanding.</a:t>
            </a:r>
            <a:br>
              <a:rPr lang="en-IN" sz="800" dirty="0"/>
            </a:br>
            <a:r>
              <a:rPr lang="en-IN" sz="800" dirty="0"/>
              <a:t>✅ </a:t>
            </a:r>
            <a:r>
              <a:rPr lang="en-IN" sz="800" b="1" dirty="0"/>
              <a:t>Enhances sequence-based tasks</a:t>
            </a:r>
            <a:r>
              <a:rPr lang="en-IN" sz="800" dirty="0"/>
              <a:t>, making it ideal for NLP applications like fake news detection.</a:t>
            </a:r>
            <a:endParaRPr lang="en-US" sz="800" dirty="0"/>
          </a:p>
          <a:p>
            <a:pPr marL="171450" marR="0" lvl="0" indent="-171450" algn="just" rtl="0">
              <a:lnSpc>
                <a:spcPct val="100000"/>
              </a:lnSpc>
              <a:spcBef>
                <a:spcPts val="0"/>
              </a:spcBef>
              <a:spcAft>
                <a:spcPts val="0"/>
              </a:spcAft>
              <a:buFont typeface="Wingdings" panose="05000000000000000000" pitchFamily="2" charset="2"/>
              <a:buChar char="Ø"/>
            </a:pPr>
            <a:endParaRPr lang="en-US" sz="800" dirty="0"/>
          </a:p>
          <a:p>
            <a:pPr marL="171450" marR="0" lvl="0" indent="-171450" algn="just" rtl="0">
              <a:lnSpc>
                <a:spcPct val="100000"/>
              </a:lnSpc>
              <a:spcBef>
                <a:spcPts val="0"/>
              </a:spcBef>
              <a:spcAft>
                <a:spcPts val="0"/>
              </a:spcAft>
              <a:buFont typeface="Wingdings" panose="05000000000000000000" pitchFamily="2" charset="2"/>
              <a:buChar char="Ø"/>
            </a:pPr>
            <a:endParaRPr lang="en-US" sz="800" dirty="0"/>
          </a:p>
          <a:p>
            <a:pPr marL="171450" marR="0" lvl="0" indent="-171450" algn="just" rtl="0">
              <a:lnSpc>
                <a:spcPct val="100000"/>
              </a:lnSpc>
              <a:spcBef>
                <a:spcPts val="0"/>
              </a:spcBef>
              <a:spcAft>
                <a:spcPts val="0"/>
              </a:spcAft>
              <a:buFont typeface="Wingdings" panose="05000000000000000000" pitchFamily="2" charset="2"/>
              <a:buChar char="Ø"/>
            </a:pPr>
            <a:endParaRPr lang="en-US" sz="800" dirty="0"/>
          </a:p>
          <a:p>
            <a:pPr marL="152400" marR="0" lvl="0" algn="just" rtl="0">
              <a:lnSpc>
                <a:spcPct val="100000"/>
              </a:lnSpc>
              <a:spcBef>
                <a:spcPts val="0"/>
              </a:spcBef>
              <a:spcAft>
                <a:spcPts val="0"/>
              </a:spcAft>
              <a:buSzPts val="1200"/>
            </a:pPr>
            <a:endParaRPr sz="800" dirty="0"/>
          </a:p>
          <a:p>
            <a:pPr marL="0" marR="0" lvl="0" indent="0" algn="just" rtl="0">
              <a:lnSpc>
                <a:spcPct val="100000"/>
              </a:lnSpc>
              <a:spcBef>
                <a:spcPts val="0"/>
              </a:spcBef>
              <a:spcAft>
                <a:spcPts val="0"/>
              </a:spcAft>
              <a:buNone/>
            </a:pPr>
            <a:endParaRPr lang="en-US" sz="900" b="1" dirty="0"/>
          </a:p>
          <a:p>
            <a:pPr marL="0" marR="0" lvl="0" indent="0" algn="just" rtl="0">
              <a:lnSpc>
                <a:spcPct val="100000"/>
              </a:lnSpc>
              <a:spcBef>
                <a:spcPts val="0"/>
              </a:spcBef>
              <a:spcAft>
                <a:spcPts val="0"/>
              </a:spcAft>
              <a:buNone/>
            </a:pPr>
            <a:endParaRPr lang="en-US" sz="900" b="1" dirty="0"/>
          </a:p>
          <a:p>
            <a:pPr marL="0" marR="0" lvl="0" indent="0" algn="just" rtl="0">
              <a:lnSpc>
                <a:spcPct val="100000"/>
              </a:lnSpc>
              <a:spcBef>
                <a:spcPts val="0"/>
              </a:spcBef>
              <a:spcAft>
                <a:spcPts val="0"/>
              </a:spcAft>
              <a:buNone/>
            </a:pPr>
            <a:endParaRPr lang="en-US" sz="900" b="1" dirty="0"/>
          </a:p>
          <a:p>
            <a:pPr marL="0" marR="0" lvl="0" indent="0" algn="just" rtl="0">
              <a:lnSpc>
                <a:spcPct val="100000"/>
              </a:lnSpc>
              <a:spcBef>
                <a:spcPts val="0"/>
              </a:spcBef>
              <a:spcAft>
                <a:spcPts val="0"/>
              </a:spcAft>
              <a:buNone/>
            </a:pPr>
            <a:endParaRPr lang="en-US" sz="900" b="1" dirty="0"/>
          </a:p>
          <a:p>
            <a:pPr marL="0" marR="0" lvl="0" indent="0" algn="just" rtl="0">
              <a:lnSpc>
                <a:spcPct val="100000"/>
              </a:lnSpc>
              <a:spcBef>
                <a:spcPts val="0"/>
              </a:spcBef>
              <a:spcAft>
                <a:spcPts val="0"/>
              </a:spcAft>
              <a:buNone/>
            </a:pPr>
            <a:r>
              <a:rPr lang="en-US" sz="900" b="1" dirty="0"/>
              <a:t>4) Sigmoid</a:t>
            </a:r>
          </a:p>
          <a:p>
            <a:pPr marL="171450" marR="0" lvl="0" indent="-171450" algn="just" rtl="0">
              <a:lnSpc>
                <a:spcPct val="100000"/>
              </a:lnSpc>
              <a:spcBef>
                <a:spcPts val="0"/>
              </a:spcBef>
              <a:spcAft>
                <a:spcPts val="0"/>
              </a:spcAft>
              <a:buFont typeface="Wingdings" panose="05000000000000000000" pitchFamily="2" charset="2"/>
              <a:buChar char="Ø"/>
            </a:pPr>
            <a:r>
              <a:rPr lang="en-US" sz="800" dirty="0"/>
              <a:t>Generates probabilities for both fake and real news and outputs from the sigmoid function sum to 1.</a:t>
            </a:r>
          </a:p>
          <a:p>
            <a:pPr marL="171450" marR="0" lvl="0" indent="-171450" algn="just" rtl="0">
              <a:lnSpc>
                <a:spcPct val="100000"/>
              </a:lnSpc>
              <a:spcBef>
                <a:spcPts val="0"/>
              </a:spcBef>
              <a:spcAft>
                <a:spcPts val="0"/>
              </a:spcAft>
              <a:buFont typeface="Wingdings" panose="05000000000000000000" pitchFamily="2" charset="2"/>
              <a:buChar char="Ø"/>
            </a:pPr>
            <a:r>
              <a:rPr lang="en-US" sz="800" dirty="0"/>
              <a:t>The class with the highest probability is chosen as the final prediction</a:t>
            </a:r>
            <a:endParaRPr sz="800" dirty="0"/>
          </a:p>
          <a:p>
            <a:pPr marL="457200" marR="0" lvl="0" indent="0" algn="l" rtl="0">
              <a:lnSpc>
                <a:spcPct val="100000"/>
              </a:lnSpc>
              <a:spcBef>
                <a:spcPts val="0"/>
              </a:spcBef>
              <a:spcAft>
                <a:spcPts val="0"/>
              </a:spcAft>
              <a:buNone/>
            </a:pPr>
            <a:endParaRPr sz="1200" dirty="0">
              <a:solidFill>
                <a:srgbClr val="ECECEC"/>
              </a:solidFill>
              <a:highlight>
                <a:srgbClr val="212121"/>
              </a:highlight>
            </a:endParaRPr>
          </a:p>
          <a:p>
            <a:pPr marL="457200" marR="0" lvl="0" indent="0" algn="l" rtl="0">
              <a:lnSpc>
                <a:spcPct val="100000"/>
              </a:lnSpc>
              <a:spcBef>
                <a:spcPts val="0"/>
              </a:spcBef>
              <a:spcAft>
                <a:spcPts val="0"/>
              </a:spcAft>
              <a:buNone/>
            </a:pPr>
            <a:endParaRPr sz="1200" dirty="0">
              <a:solidFill>
                <a:srgbClr val="ECECEC"/>
              </a:solidFill>
              <a:highlight>
                <a:srgbClr val="212121"/>
              </a:highlight>
            </a:endParaRPr>
          </a:p>
          <a:p>
            <a:pPr marL="457200" marR="0" lvl="0" indent="0" algn="just" rtl="0">
              <a:lnSpc>
                <a:spcPct val="100000"/>
              </a:lnSpc>
              <a:spcBef>
                <a:spcPts val="0"/>
              </a:spcBef>
              <a:spcAft>
                <a:spcPts val="0"/>
              </a:spcAft>
              <a:buNone/>
            </a:pPr>
            <a:r>
              <a:rPr lang="en-US" sz="1200" dirty="0">
                <a:solidFill>
                  <a:srgbClr val="ECECEC"/>
                </a:solidFill>
                <a:highlight>
                  <a:srgbClr val="212121"/>
                </a:highlight>
              </a:rPr>
              <a:t> </a:t>
            </a:r>
            <a:endParaRPr sz="1200" dirty="0"/>
          </a:p>
        </p:txBody>
      </p:sp>
      <p:sp>
        <p:nvSpPr>
          <p:cNvPr id="45" name="Google Shape;45;p11"/>
          <p:cNvSpPr txBox="1"/>
          <p:nvPr/>
        </p:nvSpPr>
        <p:spPr>
          <a:xfrm>
            <a:off x="5145287" y="6780374"/>
            <a:ext cx="4043400" cy="1375376"/>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We experimented with several vanilla pre-trained transformer models such as mBERT, distilBERT, XLM-R, IndicBERT, and MuRiL on the Dravidian_Fake dataset.</a:t>
            </a:r>
          </a:p>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From the results, it has been observed that the MuRiL pre-trained model produced superior results compared to others, with accuracies of 92.46% in Telugu, 92.71% in Tamil, 92.39% in Kannada, and 91.78% in Malayalam. </a:t>
            </a:r>
          </a:p>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MuRiL model produced superior results, which may be due to the type of data that it has been trained.</a:t>
            </a:r>
          </a:p>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Out of all pre-trained models, distilBERT produced poor results. The reason may be that it has not been trained on transliterated data.</a:t>
            </a:r>
            <a:endParaRPr sz="800" b="0" i="0" u="none" strike="noStrike" cap="none" dirty="0">
              <a:solidFill>
                <a:srgbClr val="000000"/>
              </a:solidFill>
              <a:latin typeface="Arial"/>
              <a:ea typeface="Arial"/>
              <a:cs typeface="Arial"/>
              <a:sym typeface="Arial"/>
            </a:endParaRPr>
          </a:p>
        </p:txBody>
      </p:sp>
      <p:sp>
        <p:nvSpPr>
          <p:cNvPr id="46" name="Google Shape;46;p11"/>
          <p:cNvSpPr txBox="1"/>
          <p:nvPr/>
        </p:nvSpPr>
        <p:spPr>
          <a:xfrm>
            <a:off x="5145288" y="2651890"/>
            <a:ext cx="4043473" cy="3656968"/>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IN" sz="800" b="1" i="0" u="none" strike="noStrike" cap="none" dirty="0" err="1">
                <a:solidFill>
                  <a:srgbClr val="000000"/>
                </a:solidFill>
                <a:latin typeface="Arial"/>
                <a:ea typeface="Arial"/>
                <a:cs typeface="Arial"/>
                <a:sym typeface="Arial"/>
              </a:rPr>
              <a:t>Dravidian_Fake</a:t>
            </a:r>
            <a:r>
              <a:rPr lang="en-IN" sz="800" b="1" i="0" u="none" strike="noStrike" cap="none" dirty="0">
                <a:solidFill>
                  <a:srgbClr val="000000"/>
                </a:solidFill>
                <a:latin typeface="Arial"/>
                <a:ea typeface="Arial"/>
                <a:cs typeface="Arial"/>
                <a:sym typeface="Arial"/>
              </a:rPr>
              <a:t> </a:t>
            </a:r>
            <a:r>
              <a:rPr lang="en-IN" sz="800" b="0" i="0" u="none" strike="noStrike" cap="none" dirty="0">
                <a:solidFill>
                  <a:srgbClr val="000000"/>
                </a:solidFill>
                <a:latin typeface="Arial"/>
                <a:ea typeface="Arial"/>
                <a:cs typeface="Arial"/>
                <a:sym typeface="Arial"/>
              </a:rPr>
              <a:t>is a new dataset for fake news classification in Dra</a:t>
            </a:r>
            <a:r>
              <a:rPr lang="en-IN" sz="800" dirty="0"/>
              <a:t>v</a:t>
            </a:r>
            <a:r>
              <a:rPr lang="en-IN" sz="800" b="0" i="0" u="none" strike="noStrike" cap="none" dirty="0">
                <a:solidFill>
                  <a:srgbClr val="000000"/>
                </a:solidFill>
                <a:latin typeface="Arial"/>
                <a:ea typeface="Arial"/>
                <a:cs typeface="Arial"/>
                <a:sym typeface="Arial"/>
              </a:rPr>
              <a:t>idian languages. </a:t>
            </a:r>
          </a:p>
          <a:p>
            <a:pPr marL="171450" marR="0" lvl="0" indent="-171450" algn="just" rtl="0">
              <a:lnSpc>
                <a:spcPct val="100000"/>
              </a:lnSpc>
              <a:spcBef>
                <a:spcPts val="0"/>
              </a:spcBef>
              <a:spcAft>
                <a:spcPts val="0"/>
              </a:spcAft>
              <a:buFont typeface="Wingdings" panose="05000000000000000000" pitchFamily="2" charset="2"/>
              <a:buChar char="Ø"/>
            </a:pPr>
            <a:r>
              <a:rPr lang="en-IN" sz="800" b="0" i="0" u="none" strike="noStrike" cap="none" dirty="0">
                <a:solidFill>
                  <a:srgbClr val="000000"/>
                </a:solidFill>
                <a:latin typeface="Arial"/>
                <a:ea typeface="Arial"/>
                <a:cs typeface="Arial"/>
                <a:sym typeface="Arial"/>
              </a:rPr>
              <a:t>This dataset contains four Dravidian languages: Tel</a:t>
            </a:r>
            <a:r>
              <a:rPr lang="en-IN" sz="800" dirty="0"/>
              <a:t>u</a:t>
            </a:r>
            <a:r>
              <a:rPr lang="en-IN" sz="800" b="0" i="0" u="none" strike="noStrike" cap="none" dirty="0">
                <a:solidFill>
                  <a:srgbClr val="000000"/>
                </a:solidFill>
                <a:latin typeface="Arial"/>
                <a:ea typeface="Arial"/>
                <a:cs typeface="Arial"/>
                <a:sym typeface="Arial"/>
              </a:rPr>
              <a:t>gu, Kannada, Tamil, and Malayalam. </a:t>
            </a:r>
          </a:p>
          <a:p>
            <a:pPr marL="171450" marR="0" lvl="0" indent="-171450" algn="just" rtl="0">
              <a:lnSpc>
                <a:spcPct val="100000"/>
              </a:lnSpc>
              <a:spcBef>
                <a:spcPts val="0"/>
              </a:spcBef>
              <a:spcAft>
                <a:spcPts val="0"/>
              </a:spcAft>
              <a:buFont typeface="Wingdings" panose="05000000000000000000" pitchFamily="2" charset="2"/>
              <a:buChar char="Ø"/>
            </a:pPr>
            <a:r>
              <a:rPr lang="en-IN" sz="800" b="0" i="0" u="none" strike="noStrike" cap="none" dirty="0">
                <a:solidFill>
                  <a:srgbClr val="000000"/>
                </a:solidFill>
                <a:latin typeface="Arial"/>
                <a:ea typeface="Arial"/>
                <a:cs typeface="Arial"/>
                <a:sym typeface="Arial"/>
              </a:rPr>
              <a:t>The dataset contains various types of data, like political news, celebrity news, COVID-19 news, sports news, educational news, and business news.</a:t>
            </a:r>
          </a:p>
          <a:p>
            <a:pPr marL="171450" marR="0" lvl="0" indent="-171450" algn="just" rtl="0">
              <a:lnSpc>
                <a:spcPct val="100000"/>
              </a:lnSpc>
              <a:spcBef>
                <a:spcPts val="0"/>
              </a:spcBef>
              <a:spcAft>
                <a:spcPts val="0"/>
              </a:spcAft>
              <a:buFont typeface="Wingdings" panose="05000000000000000000" pitchFamily="2" charset="2"/>
              <a:buChar char="Ø"/>
            </a:pPr>
            <a:r>
              <a:rPr lang="en-IN" sz="800" b="0" i="0" u="none" strike="noStrike" cap="none" dirty="0">
                <a:solidFill>
                  <a:srgbClr val="000000"/>
                </a:solidFill>
                <a:latin typeface="Arial"/>
                <a:ea typeface="Arial"/>
                <a:cs typeface="Arial"/>
                <a:sym typeface="Arial"/>
              </a:rPr>
              <a:t>We collected our </a:t>
            </a:r>
            <a:r>
              <a:rPr lang="en-IN" sz="800" b="0" i="0" u="none" strike="noStrike" cap="none" dirty="0" err="1">
                <a:solidFill>
                  <a:srgbClr val="000000"/>
                </a:solidFill>
                <a:latin typeface="Arial"/>
                <a:ea typeface="Arial"/>
                <a:cs typeface="Arial"/>
                <a:sym typeface="Arial"/>
              </a:rPr>
              <a:t>Dravidian_Fake</a:t>
            </a:r>
            <a:r>
              <a:rPr lang="en-IN" sz="800" b="0" i="0" u="none" strike="noStrike" cap="none" dirty="0">
                <a:solidFill>
                  <a:srgbClr val="000000"/>
                </a:solidFill>
                <a:latin typeface="Arial"/>
                <a:ea typeface="Arial"/>
                <a:cs typeface="Arial"/>
                <a:sym typeface="Arial"/>
              </a:rPr>
              <a:t> dataset in IEEE </a:t>
            </a:r>
            <a:r>
              <a:rPr lang="en-IN" sz="800" b="0" i="0" u="none" strike="noStrike" cap="none" dirty="0" err="1">
                <a:solidFill>
                  <a:srgbClr val="000000"/>
                </a:solidFill>
                <a:latin typeface="Arial"/>
                <a:ea typeface="Arial"/>
                <a:cs typeface="Arial"/>
                <a:sym typeface="Arial"/>
              </a:rPr>
              <a:t>DataPort</a:t>
            </a:r>
            <a:r>
              <a:rPr lang="en-IN" sz="800" b="0" i="0" u="none" strike="noStrike" cap="none" dirty="0">
                <a:solidFill>
                  <a:srgbClr val="000000"/>
                </a:solidFill>
                <a:latin typeface="Arial"/>
                <a:ea typeface="Arial"/>
                <a:cs typeface="Arial"/>
                <a:sym typeface="Arial"/>
              </a:rPr>
              <a:t>.(Source Link: Raja, E., Soni, B., &amp; Borgohain, S. K. (2023). DFND: </a:t>
            </a:r>
            <a:r>
              <a:rPr lang="en-IN" sz="800" b="0" i="0" u="none" strike="noStrike" cap="none" dirty="0" err="1">
                <a:solidFill>
                  <a:srgbClr val="000000"/>
                </a:solidFill>
                <a:latin typeface="Arial"/>
                <a:ea typeface="Arial"/>
                <a:cs typeface="Arial"/>
                <a:sym typeface="Arial"/>
              </a:rPr>
              <a:t>Dravidian_Fake</a:t>
            </a:r>
            <a:r>
              <a:rPr lang="en-IN" sz="800" b="0" i="0" u="none" strike="noStrike" cap="none" dirty="0">
                <a:solidFill>
                  <a:srgbClr val="000000"/>
                </a:solidFill>
                <a:latin typeface="Arial"/>
                <a:ea typeface="Arial"/>
                <a:cs typeface="Arial"/>
                <a:sym typeface="Arial"/>
              </a:rPr>
              <a:t> News Data).</a:t>
            </a:r>
          </a:p>
        </p:txBody>
      </p:sp>
      <p:sp>
        <p:nvSpPr>
          <p:cNvPr id="47" name="Google Shape;47;p11"/>
          <p:cNvSpPr txBox="1"/>
          <p:nvPr/>
        </p:nvSpPr>
        <p:spPr>
          <a:xfrm>
            <a:off x="5145287" y="8657862"/>
            <a:ext cx="4043473" cy="832563"/>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Literature review has been carried out. Testing multiple pre-trained models helped us understand their effectiveness on this dataset. </a:t>
            </a:r>
          </a:p>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Existing models may not fully address the nuances of Dravidian scripts, suggesting a need for specialized approaches. </a:t>
            </a:r>
          </a:p>
          <a:p>
            <a:pPr marL="171450" marR="0" lvl="0" indent="-171450" algn="l" rtl="0">
              <a:lnSpc>
                <a:spcPct val="100000"/>
              </a:lnSpc>
              <a:spcBef>
                <a:spcPts val="0"/>
              </a:spcBef>
              <a:spcAft>
                <a:spcPts val="0"/>
              </a:spcAft>
              <a:buFont typeface="Wingdings" panose="05000000000000000000" pitchFamily="2" charset="2"/>
              <a:buChar char="Ø"/>
            </a:pPr>
            <a:r>
              <a:rPr lang="en-US" sz="800" b="0" i="0" u="none" strike="noStrike" cap="none" dirty="0">
                <a:solidFill>
                  <a:srgbClr val="000000"/>
                </a:solidFill>
                <a:latin typeface="Arial"/>
                <a:ea typeface="Arial"/>
                <a:cs typeface="Arial"/>
                <a:sym typeface="Arial"/>
              </a:rPr>
              <a:t>The proposed Residual CNN- </a:t>
            </a:r>
            <a:r>
              <a:rPr lang="en-US" sz="800" b="0" i="0" u="none" strike="noStrike" cap="none" dirty="0" err="1">
                <a:solidFill>
                  <a:srgbClr val="000000"/>
                </a:solidFill>
                <a:latin typeface="Arial"/>
                <a:ea typeface="Arial"/>
                <a:cs typeface="Arial"/>
                <a:sym typeface="Arial"/>
              </a:rPr>
              <a:t>BiLSTM</a:t>
            </a:r>
            <a:r>
              <a:rPr lang="en-US" sz="800" b="0" i="0" u="none" strike="noStrike" cap="none" dirty="0">
                <a:solidFill>
                  <a:srgbClr val="000000"/>
                </a:solidFill>
                <a:latin typeface="Arial"/>
                <a:ea typeface="Arial"/>
                <a:cs typeface="Arial"/>
                <a:sym typeface="Arial"/>
              </a:rPr>
              <a:t> model on MuRiL embeddings will be implemented next to enhance performance.</a:t>
            </a:r>
            <a:endParaRPr sz="800" b="0" i="0" u="none" strike="noStrike" cap="none" dirty="0">
              <a:solidFill>
                <a:srgbClr val="000000"/>
              </a:solidFill>
              <a:latin typeface="Arial"/>
              <a:ea typeface="Arial"/>
              <a:cs typeface="Arial"/>
              <a:sym typeface="Arial"/>
            </a:endParaRPr>
          </a:p>
        </p:txBody>
      </p:sp>
      <p:sp>
        <p:nvSpPr>
          <p:cNvPr id="48" name="Google Shape;48;p11"/>
          <p:cNvSpPr txBox="1"/>
          <p:nvPr/>
        </p:nvSpPr>
        <p:spPr>
          <a:xfrm>
            <a:off x="5145288" y="9950457"/>
            <a:ext cx="4043473" cy="2109377"/>
          </a:xfrm>
          <a:prstGeom prst="rect">
            <a:avLst/>
          </a:prstGeom>
          <a:noFill/>
          <a:ln w="9525" cap="flat" cmpd="sng">
            <a:solidFill>
              <a:srgbClr val="A58255"/>
            </a:solidFill>
            <a:prstDash val="solid"/>
            <a:round/>
            <a:headEnd type="none" w="sm" len="sm"/>
            <a:tailEnd type="none" w="sm" len="sm"/>
          </a:ln>
        </p:spPr>
        <p:txBody>
          <a:bodyPr spcFirstLastPara="1" wrap="square" lIns="91425" tIns="45700" rIns="91425" bIns="45700" anchor="t" anchorCtr="0">
            <a:noAutofit/>
          </a:bodyPr>
          <a:lstStyle/>
          <a:p>
            <a:pPr marL="228600" marR="0" lvl="0" indent="-228600" algn="just" rtl="0">
              <a:lnSpc>
                <a:spcPct val="100000"/>
              </a:lnSpc>
              <a:spcBef>
                <a:spcPts val="0"/>
              </a:spcBef>
              <a:spcAft>
                <a:spcPts val="0"/>
              </a:spcAft>
              <a:buAutoNum type="arabicPeriod"/>
            </a:pPr>
            <a:r>
              <a:rPr lang="en-US" sz="800" b="0" i="0" dirty="0">
                <a:solidFill>
                  <a:srgbClr val="222222"/>
                </a:solidFill>
                <a:effectLst/>
                <a:latin typeface="Arial" panose="020B0604020202020204" pitchFamily="34" charset="0"/>
              </a:rPr>
              <a:t>Raja, E., Soni, B., &amp; Borgohain, S. K. (2023). Fake news detection in Dravidian languages using transfer learning with adaptive finetuning. </a:t>
            </a:r>
            <a:r>
              <a:rPr lang="en-US" sz="800" b="0" i="1" dirty="0">
                <a:solidFill>
                  <a:srgbClr val="222222"/>
                </a:solidFill>
                <a:effectLst/>
                <a:latin typeface="Arial" panose="020B0604020202020204" pitchFamily="34" charset="0"/>
              </a:rPr>
              <a:t>Engineering Applications of Artificial Intelligence</a:t>
            </a:r>
            <a:r>
              <a:rPr lang="en-US" sz="800" b="0" i="0" dirty="0">
                <a:solidFill>
                  <a:srgbClr val="222222"/>
                </a:solidFill>
                <a:effectLst/>
                <a:latin typeface="Arial" panose="020B0604020202020204" pitchFamily="34" charset="0"/>
              </a:rPr>
              <a:t>, </a:t>
            </a:r>
            <a:r>
              <a:rPr lang="en-US" sz="800" b="0" i="1" dirty="0">
                <a:solidFill>
                  <a:srgbClr val="222222"/>
                </a:solidFill>
                <a:effectLst/>
                <a:latin typeface="Arial" panose="020B0604020202020204" pitchFamily="34" charset="0"/>
              </a:rPr>
              <a:t>126</a:t>
            </a:r>
            <a:r>
              <a:rPr lang="en-US" sz="800" b="0" i="0" dirty="0">
                <a:solidFill>
                  <a:srgbClr val="222222"/>
                </a:solidFill>
                <a:effectLst/>
                <a:latin typeface="Arial" panose="020B0604020202020204" pitchFamily="34" charset="0"/>
              </a:rPr>
              <a:t>, 106877.</a:t>
            </a:r>
          </a:p>
          <a:p>
            <a:pPr marL="228600" marR="0" lvl="0" indent="-228600" algn="just" rtl="0">
              <a:lnSpc>
                <a:spcPct val="100000"/>
              </a:lnSpc>
              <a:spcBef>
                <a:spcPts val="0"/>
              </a:spcBef>
              <a:spcAft>
                <a:spcPts val="0"/>
              </a:spcAft>
              <a:buAutoNum type="arabicPeriod"/>
            </a:pPr>
            <a:r>
              <a:rPr lang="en-IN" sz="800" b="0" i="0" u="none" strike="noStrike" cap="none" dirty="0">
                <a:solidFill>
                  <a:srgbClr val="000000"/>
                </a:solidFill>
                <a:latin typeface="Arial"/>
                <a:ea typeface="Arial"/>
                <a:cs typeface="Arial"/>
                <a:sym typeface="Arial"/>
              </a:rPr>
              <a:t>Raja, E., Soni, B., Lalrempuii, C., &amp; Borgohain, S. K. (2024). An adaptive cyclical learning rate based hybrid model for Dravidian fake news detection. Expert Systems with Applications, 241, 122768.</a:t>
            </a:r>
            <a:endParaRPr lang="en-US" sz="800" u="none" strike="noStrike" cap="none" dirty="0">
              <a:solidFill>
                <a:srgbClr val="222222"/>
              </a:solidFill>
              <a:latin typeface="Arial" panose="020B0604020202020204" pitchFamily="34" charset="0"/>
              <a:ea typeface="Arial"/>
              <a:cs typeface="Arial"/>
              <a:sym typeface="Arial"/>
            </a:endParaRPr>
          </a:p>
          <a:p>
            <a:pPr marL="228600" marR="0" lvl="0" indent="-228600" algn="just" rtl="0">
              <a:lnSpc>
                <a:spcPct val="100000"/>
              </a:lnSpc>
              <a:spcBef>
                <a:spcPts val="0"/>
              </a:spcBef>
              <a:spcAft>
                <a:spcPts val="0"/>
              </a:spcAft>
              <a:buAutoNum type="arabicPeriod"/>
            </a:pPr>
            <a:r>
              <a:rPr lang="en-IN" sz="800" b="0" i="0" u="none" strike="noStrike" cap="none" dirty="0">
                <a:solidFill>
                  <a:srgbClr val="000000"/>
                </a:solidFill>
                <a:latin typeface="Arial"/>
                <a:ea typeface="Arial"/>
                <a:cs typeface="Arial"/>
                <a:sym typeface="Arial"/>
              </a:rPr>
              <a:t>Raja, E., Soni, B., &amp; Borgohain, S. K. (2024). Fake news detection in Dravidian languages using multiscale residual CNN_BiLSTM hybrid model. Expert Systems with Applications, 250, 123967.</a:t>
            </a:r>
            <a:endParaRPr lang="en-US" sz="800" b="0" i="0" dirty="0">
              <a:solidFill>
                <a:srgbClr val="222222"/>
              </a:solidFill>
              <a:latin typeface="Arial" panose="020B0604020202020204" pitchFamily="34" charset="0"/>
            </a:endParaRPr>
          </a:p>
          <a:p>
            <a:pPr marL="228600" marR="0" lvl="0" indent="-228600" algn="just" rtl="0">
              <a:lnSpc>
                <a:spcPct val="100000"/>
              </a:lnSpc>
              <a:spcBef>
                <a:spcPts val="0"/>
              </a:spcBef>
              <a:spcAft>
                <a:spcPts val="0"/>
              </a:spcAft>
              <a:buAutoNum type="arabicPeriod"/>
            </a:pPr>
            <a:r>
              <a:rPr lang="en-IN" sz="800" b="0" i="0" u="none" strike="noStrike" cap="none" dirty="0">
                <a:solidFill>
                  <a:srgbClr val="000000"/>
                </a:solidFill>
                <a:latin typeface="Arial"/>
                <a:ea typeface="Arial"/>
                <a:cs typeface="Arial"/>
                <a:sym typeface="Arial"/>
              </a:rPr>
              <a:t>Raja, E., Soni, B., &amp; Borgohain, S. K. (2024). Harnessing heterogeneity: A multi-embedding ensemble approach for detecting fake news in Dravidian languages. Computers and Electrical Engineering, 120, 109661.</a:t>
            </a:r>
          </a:p>
          <a:p>
            <a:pPr marL="228600" marR="0" lvl="0" indent="-228600" algn="just" rtl="0">
              <a:lnSpc>
                <a:spcPct val="100000"/>
              </a:lnSpc>
              <a:spcBef>
                <a:spcPts val="0"/>
              </a:spcBef>
              <a:spcAft>
                <a:spcPts val="0"/>
              </a:spcAft>
              <a:buAutoNum type="arabicPeriod"/>
            </a:pPr>
            <a:r>
              <a:rPr lang="en-IN" sz="800" b="0" i="0" u="none" strike="noStrike" cap="none" dirty="0">
                <a:solidFill>
                  <a:srgbClr val="000000"/>
                </a:solidFill>
                <a:latin typeface="Arial"/>
                <a:ea typeface="Arial"/>
                <a:cs typeface="Arial"/>
                <a:sym typeface="Arial"/>
              </a:rPr>
              <a:t>Raja, E., Soni, B., &amp; Borgohain, S. K. (2022, December). Fake news detection in dravidian languages using transformer models. In International Conference on Computer Vision, High-Performance Computing, Smart Devices, and Networks (pp. 515-523). Singapore: Springer Nature Singapore.</a:t>
            </a:r>
            <a:endParaRPr sz="800" b="0" i="0" u="none" strike="noStrike" cap="none" dirty="0">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1BEDFF5F-1FE0-B565-7110-FA0B64757E9A}"/>
              </a:ext>
            </a:extLst>
          </p:cNvPr>
          <p:cNvPicPr>
            <a:picLocks noChangeAspect="1"/>
          </p:cNvPicPr>
          <p:nvPr/>
        </p:nvPicPr>
        <p:blipFill>
          <a:blip r:embed="rId4"/>
          <a:stretch>
            <a:fillRect/>
          </a:stretch>
        </p:blipFill>
        <p:spPr>
          <a:xfrm>
            <a:off x="2744950" y="3574696"/>
            <a:ext cx="1798321" cy="867919"/>
          </a:xfrm>
          <a:prstGeom prst="rect">
            <a:avLst/>
          </a:prstGeom>
        </p:spPr>
      </p:pic>
      <p:pic>
        <p:nvPicPr>
          <p:cNvPr id="13" name="Picture 12">
            <a:extLst>
              <a:ext uri="{FF2B5EF4-FFF2-40B4-BE49-F238E27FC236}">
                <a16:creationId xmlns:a16="http://schemas.microsoft.com/office/drawing/2014/main" id="{8B2BD9DB-3288-58DA-1956-04E3B9BF72C4}"/>
              </a:ext>
            </a:extLst>
          </p:cNvPr>
          <p:cNvPicPr>
            <a:picLocks noChangeAspect="1"/>
          </p:cNvPicPr>
          <p:nvPr/>
        </p:nvPicPr>
        <p:blipFill>
          <a:blip r:embed="rId5"/>
          <a:stretch>
            <a:fillRect/>
          </a:stretch>
        </p:blipFill>
        <p:spPr>
          <a:xfrm>
            <a:off x="906382" y="8360482"/>
            <a:ext cx="3702368" cy="1266970"/>
          </a:xfrm>
          <a:prstGeom prst="rect">
            <a:avLst/>
          </a:prstGeom>
        </p:spPr>
      </p:pic>
      <p:pic>
        <p:nvPicPr>
          <p:cNvPr id="15" name="Picture 14">
            <a:extLst>
              <a:ext uri="{FF2B5EF4-FFF2-40B4-BE49-F238E27FC236}">
                <a16:creationId xmlns:a16="http://schemas.microsoft.com/office/drawing/2014/main" id="{A45126F8-9914-F3FF-DF56-B98BC64BDF2F}"/>
              </a:ext>
            </a:extLst>
          </p:cNvPr>
          <p:cNvPicPr>
            <a:picLocks noChangeAspect="1"/>
          </p:cNvPicPr>
          <p:nvPr/>
        </p:nvPicPr>
        <p:blipFill>
          <a:blip r:embed="rId6"/>
          <a:stretch>
            <a:fillRect/>
          </a:stretch>
        </p:blipFill>
        <p:spPr>
          <a:xfrm>
            <a:off x="906382" y="10866848"/>
            <a:ext cx="3527083" cy="961510"/>
          </a:xfrm>
          <a:prstGeom prst="rect">
            <a:avLst/>
          </a:prstGeom>
        </p:spPr>
      </p:pic>
      <p:pic>
        <p:nvPicPr>
          <p:cNvPr id="21" name="Picture 20">
            <a:extLst>
              <a:ext uri="{FF2B5EF4-FFF2-40B4-BE49-F238E27FC236}">
                <a16:creationId xmlns:a16="http://schemas.microsoft.com/office/drawing/2014/main" id="{A4408DA8-97FC-2983-5AE9-4D5EE84CD94E}"/>
              </a:ext>
            </a:extLst>
          </p:cNvPr>
          <p:cNvPicPr>
            <a:picLocks noChangeAspect="1"/>
          </p:cNvPicPr>
          <p:nvPr/>
        </p:nvPicPr>
        <p:blipFill>
          <a:blip r:embed="rId7"/>
          <a:stretch>
            <a:fillRect/>
          </a:stretch>
        </p:blipFill>
        <p:spPr>
          <a:xfrm>
            <a:off x="840903" y="5149157"/>
            <a:ext cx="3702368" cy="1152144"/>
          </a:xfrm>
          <a:prstGeom prst="rect">
            <a:avLst/>
          </a:prstGeom>
        </p:spPr>
      </p:pic>
      <p:pic>
        <p:nvPicPr>
          <p:cNvPr id="4" name="Picture 3">
            <a:extLst>
              <a:ext uri="{FF2B5EF4-FFF2-40B4-BE49-F238E27FC236}">
                <a16:creationId xmlns:a16="http://schemas.microsoft.com/office/drawing/2014/main" id="{C97BC37F-7307-82D0-939B-404AA44CB313}"/>
              </a:ext>
            </a:extLst>
          </p:cNvPr>
          <p:cNvPicPr>
            <a:picLocks noChangeAspect="1"/>
          </p:cNvPicPr>
          <p:nvPr/>
        </p:nvPicPr>
        <p:blipFill>
          <a:blip r:embed="rId8"/>
          <a:stretch>
            <a:fillRect/>
          </a:stretch>
        </p:blipFill>
        <p:spPr>
          <a:xfrm>
            <a:off x="5406697" y="4991477"/>
            <a:ext cx="3520457" cy="1228791"/>
          </a:xfrm>
          <a:prstGeom prst="rect">
            <a:avLst/>
          </a:prstGeom>
        </p:spPr>
      </p:pic>
      <p:graphicFrame>
        <p:nvGraphicFramePr>
          <p:cNvPr id="6" name="Google Shape;54;p3">
            <a:extLst>
              <a:ext uri="{FF2B5EF4-FFF2-40B4-BE49-F238E27FC236}">
                <a16:creationId xmlns:a16="http://schemas.microsoft.com/office/drawing/2014/main" id="{E87A8A6D-733A-F1C3-5FEA-4F38ED932CC7}"/>
              </a:ext>
            </a:extLst>
          </p:cNvPr>
          <p:cNvGraphicFramePr/>
          <p:nvPr>
            <p:extLst>
              <p:ext uri="{D42A27DB-BD31-4B8C-83A1-F6EECF244321}">
                <p14:modId xmlns:p14="http://schemas.microsoft.com/office/powerpoint/2010/main" val="1895793655"/>
              </p:ext>
            </p:extLst>
          </p:nvPr>
        </p:nvGraphicFramePr>
        <p:xfrm>
          <a:off x="5357493" y="3720099"/>
          <a:ext cx="3618867" cy="1184080"/>
        </p:xfrm>
        <a:graphic>
          <a:graphicData uri="http://schemas.openxmlformats.org/drawingml/2006/table">
            <a:tbl>
              <a:tblPr firstRow="1">
                <a:noFill/>
              </a:tblPr>
              <a:tblGrid>
                <a:gridCol w="1035643">
                  <a:extLst>
                    <a:ext uri="{9D8B030D-6E8A-4147-A177-3AD203B41FA5}">
                      <a16:colId xmlns:a16="http://schemas.microsoft.com/office/drawing/2014/main" val="20001"/>
                    </a:ext>
                  </a:extLst>
                </a:gridCol>
                <a:gridCol w="861075">
                  <a:extLst>
                    <a:ext uri="{9D8B030D-6E8A-4147-A177-3AD203B41FA5}">
                      <a16:colId xmlns:a16="http://schemas.microsoft.com/office/drawing/2014/main" val="20002"/>
                    </a:ext>
                  </a:extLst>
                </a:gridCol>
                <a:gridCol w="864664">
                  <a:extLst>
                    <a:ext uri="{9D8B030D-6E8A-4147-A177-3AD203B41FA5}">
                      <a16:colId xmlns:a16="http://schemas.microsoft.com/office/drawing/2014/main" val="2173601986"/>
                    </a:ext>
                  </a:extLst>
                </a:gridCol>
                <a:gridCol w="857485">
                  <a:extLst>
                    <a:ext uri="{9D8B030D-6E8A-4147-A177-3AD203B41FA5}">
                      <a16:colId xmlns:a16="http://schemas.microsoft.com/office/drawing/2014/main" val="4100950918"/>
                    </a:ext>
                  </a:extLst>
                </a:gridCol>
              </a:tblGrid>
              <a:tr h="253400">
                <a:tc>
                  <a:txBody>
                    <a:bodyPr/>
                    <a:lstStyle/>
                    <a:p>
                      <a:pPr marL="0" marR="0" lvl="0" indent="0" algn="ctr" rtl="0">
                        <a:spcBef>
                          <a:spcPts val="0"/>
                        </a:spcBef>
                        <a:spcAft>
                          <a:spcPts val="0"/>
                        </a:spcAft>
                        <a:buNone/>
                      </a:pPr>
                      <a:r>
                        <a:rPr lang="en-US" sz="800" i="0" u="none" strike="noStrike" cap="none" dirty="0">
                          <a:latin typeface="Inter"/>
                          <a:ea typeface="Inter"/>
                          <a:cs typeface="Inter"/>
                          <a:sym typeface="Inter"/>
                        </a:rPr>
                        <a:t>Language</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A58255"/>
                    </a:solidFill>
                  </a:tcPr>
                </a:tc>
                <a:tc>
                  <a:txBody>
                    <a:bodyPr/>
                    <a:lstStyle/>
                    <a:p>
                      <a:pPr marL="0" marR="0" lvl="0" indent="0" algn="ctr" rtl="0">
                        <a:spcBef>
                          <a:spcPts val="0"/>
                        </a:spcBef>
                        <a:spcAft>
                          <a:spcPts val="0"/>
                        </a:spcAft>
                        <a:buNone/>
                      </a:pPr>
                      <a:r>
                        <a:rPr lang="en-US" sz="800" i="0" u="none" strike="noStrike" cap="none" dirty="0">
                          <a:latin typeface="Inter"/>
                          <a:ea typeface="Inter"/>
                          <a:cs typeface="Inter"/>
                          <a:sym typeface="Inter"/>
                        </a:rPr>
                        <a:t>Real</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8255"/>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Fake</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A58255"/>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Total</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A58255"/>
                    </a:solidFill>
                  </a:tcPr>
                </a:tc>
                <a:extLst>
                  <a:ext uri="{0D108BD9-81ED-4DB2-BD59-A6C34878D82A}">
                    <a16:rowId xmlns:a16="http://schemas.microsoft.com/office/drawing/2014/main" val="10000"/>
                  </a:ext>
                </a:extLst>
              </a:tr>
              <a:tr h="199471">
                <a:tc>
                  <a:txBody>
                    <a:bodyPr/>
                    <a:lstStyle/>
                    <a:p>
                      <a:pPr marL="0" marR="0" lvl="0" indent="0" algn="ctr" rtl="0">
                        <a:spcBef>
                          <a:spcPts val="0"/>
                        </a:spcBef>
                        <a:spcAft>
                          <a:spcPts val="0"/>
                        </a:spcAft>
                        <a:buNone/>
                      </a:pPr>
                      <a:r>
                        <a:rPr lang="en-US" sz="800" dirty="0">
                          <a:latin typeface="Inter"/>
                          <a:ea typeface="Inter"/>
                          <a:cs typeface="Inter"/>
                          <a:sym typeface="Inter"/>
                        </a:rPr>
                        <a:t>Telugu</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IN" sz="800" dirty="0">
                          <a:latin typeface="Inter"/>
                          <a:ea typeface="Inter"/>
                          <a:cs typeface="Inter"/>
                          <a:sym typeface="Inter"/>
                        </a:rPr>
                        <a:t>3236</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IN" sz="800" dirty="0">
                          <a:latin typeface="Inter"/>
                          <a:ea typeface="Inter"/>
                          <a:cs typeface="Inter"/>
                          <a:sym typeface="Inter"/>
                        </a:rPr>
                        <a:t>3245</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IN" sz="800" dirty="0">
                          <a:latin typeface="Inter"/>
                          <a:ea typeface="Inter"/>
                          <a:cs typeface="Inter"/>
                          <a:sym typeface="Inter"/>
                        </a:rPr>
                        <a:t>6481</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199471">
                <a:tc>
                  <a:txBody>
                    <a:bodyPr/>
                    <a:lstStyle/>
                    <a:p>
                      <a:pPr marL="0" marR="0" lvl="0" indent="0" algn="ctr" rtl="0">
                        <a:spcBef>
                          <a:spcPts val="0"/>
                        </a:spcBef>
                        <a:spcAft>
                          <a:spcPts val="0"/>
                        </a:spcAft>
                        <a:buNone/>
                      </a:pPr>
                      <a:r>
                        <a:rPr lang="en-US" sz="800" dirty="0">
                          <a:latin typeface="Inter"/>
                          <a:ea typeface="Inter"/>
                          <a:cs typeface="Inter"/>
                          <a:sym typeface="Inter"/>
                        </a:rPr>
                        <a:t>Kannada</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3058</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3220</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6278</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199471">
                <a:tc>
                  <a:txBody>
                    <a:bodyPr/>
                    <a:lstStyle/>
                    <a:p>
                      <a:pPr marL="0" marR="0" lvl="0" indent="0" algn="ctr" rtl="0">
                        <a:spcBef>
                          <a:spcPts val="0"/>
                        </a:spcBef>
                        <a:spcAft>
                          <a:spcPts val="0"/>
                        </a:spcAft>
                        <a:buNone/>
                      </a:pPr>
                      <a:r>
                        <a:rPr lang="en-US" sz="800" dirty="0">
                          <a:latin typeface="Inter"/>
                          <a:ea typeface="Inter"/>
                          <a:cs typeface="Inter"/>
                          <a:sym typeface="Inter"/>
                        </a:rPr>
                        <a:t>Tamil</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3195</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3082</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6277</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r h="216557">
                <a:tc>
                  <a:txBody>
                    <a:bodyPr/>
                    <a:lstStyle/>
                    <a:p>
                      <a:pPr marL="0" marR="0" lvl="0" indent="0" algn="ctr" rtl="0">
                        <a:spcBef>
                          <a:spcPts val="0"/>
                        </a:spcBef>
                        <a:spcAft>
                          <a:spcPts val="0"/>
                        </a:spcAft>
                        <a:buNone/>
                      </a:pPr>
                      <a:r>
                        <a:rPr lang="en-US" sz="800" dirty="0">
                          <a:latin typeface="Inter"/>
                          <a:ea typeface="Inter"/>
                          <a:cs typeface="Inter"/>
                          <a:sym typeface="Inter"/>
                        </a:rPr>
                        <a:t>Malayalam</a:t>
                      </a:r>
                      <a:endParaRPr sz="800"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3098</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3213</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marL="0" marR="0" lvl="0" indent="0" algn="ctr" rtl="0">
                        <a:spcBef>
                          <a:spcPts val="0"/>
                        </a:spcBef>
                        <a:spcAft>
                          <a:spcPts val="0"/>
                        </a:spcAft>
                        <a:buNone/>
                      </a:pPr>
                      <a:r>
                        <a:rPr lang="en-US" sz="800" dirty="0">
                          <a:latin typeface="Inter"/>
                          <a:ea typeface="Inter"/>
                          <a:cs typeface="Inter"/>
                          <a:sym typeface="Inter"/>
                        </a:rPr>
                        <a:t>6311</a:t>
                      </a: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4"/>
                  </a:ext>
                </a:extLst>
              </a:tr>
            </a:tbl>
          </a:graphicData>
        </a:graphic>
      </p:graphicFrame>
      <p:pic>
        <p:nvPicPr>
          <p:cNvPr id="3" name="Picture 2">
            <a:extLst>
              <a:ext uri="{FF2B5EF4-FFF2-40B4-BE49-F238E27FC236}">
                <a16:creationId xmlns:a16="http://schemas.microsoft.com/office/drawing/2014/main" id="{E464062C-6DDB-3827-1393-C739E31C585A}"/>
              </a:ext>
            </a:extLst>
          </p:cNvPr>
          <p:cNvPicPr>
            <a:picLocks noChangeAspect="1"/>
          </p:cNvPicPr>
          <p:nvPr/>
        </p:nvPicPr>
        <p:blipFill>
          <a:blip r:embed="rId9"/>
          <a:stretch>
            <a:fillRect/>
          </a:stretch>
        </p:blipFill>
        <p:spPr>
          <a:xfrm>
            <a:off x="1006848" y="3439650"/>
            <a:ext cx="1562100" cy="1138012"/>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881</Words>
  <Application>Microsoft Office PowerPoint</Application>
  <PresentationFormat>A3 Paper (297x420 mm)</PresentationFormat>
  <Paragraphs>95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Wingdings</vt:lpstr>
      <vt:lpstr>Arial</vt:lpstr>
      <vt:lpstr>Plus Jakarta Sans</vt:lpstr>
      <vt:lpstr>Inter</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Balaji Kilari</dc:creator>
  <cp:lastModifiedBy>Riteesh Preetam Nallana</cp:lastModifiedBy>
  <cp:revision>5</cp:revision>
  <dcterms:modified xsi:type="dcterms:W3CDTF">2025-03-25T17:03:42Z</dcterms:modified>
</cp:coreProperties>
</file>